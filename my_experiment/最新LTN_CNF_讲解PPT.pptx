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5" r:id="rId9"/>
    <p:sldId id="260" r:id="rId10"/>
    <p:sldId id="267" r:id="rId11"/>
    <p:sldId id="261" r:id="rId12"/>
    <p:sldId id="262" r:id="rId13"/>
    <p:sldId id="263" r:id="rId14"/>
    <p:sldId id="264" r:id="rId1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2342"/>
    <a:srgbClr val="1D4ED8"/>
    <a:srgbClr val="0D1F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总损失</c:v>
                </c:pt>
              </c:strCache>
            </c:strRef>
          </c:tx>
          <c:spPr>
            <a:ln w="31750" cap="flat" cmpd="sng" algn="ctr">
              <a:solidFill>
                <a:srgbClr val="0A234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A2342"/>
              </a:solidFill>
              <a:ln w="9525" cap="flat" cmpd="sng" algn="ctr">
                <a:solidFill>
                  <a:srgbClr val="0A2342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20</c:v>
                </c:pt>
                <c:pt idx="4">
                  <c:v>30</c:v>
                </c:pt>
                <c:pt idx="5">
                  <c:v>40</c:v>
                </c:pt>
                <c:pt idx="6">
                  <c:v>50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0.7009</c:v>
                </c:pt>
                <c:pt idx="1">
                  <c:v>0.5239</c:v>
                </c:pt>
                <c:pt idx="2">
                  <c:v>0.276</c:v>
                </c:pt>
                <c:pt idx="3">
                  <c:v>0.1424</c:v>
                </c:pt>
                <c:pt idx="4">
                  <c:v>0.1148</c:v>
                </c:pt>
                <c:pt idx="5">
                  <c:v>0.1085</c:v>
                </c:pt>
                <c:pt idx="6">
                  <c:v>0.1051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BCE损失</c:v>
                </c:pt>
              </c:strCache>
            </c:strRef>
          </c:tx>
          <c:spPr>
            <a:ln w="31750" cap="flat" cmpd="sng" algn="ctr">
              <a:solidFill>
                <a:srgbClr val="02809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28090"/>
              </a:solidFill>
              <a:ln w="9525" cap="flat" cmpd="sng" algn="ctr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20</c:v>
                </c:pt>
                <c:pt idx="4">
                  <c:v>30</c:v>
                </c:pt>
                <c:pt idx="5">
                  <c:v>40</c:v>
                </c:pt>
                <c:pt idx="6">
                  <c:v>50</c:v>
                </c:pt>
              </c:numCache>
            </c:num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0.887</c:v>
                </c:pt>
                <c:pt idx="1">
                  <c:v>0.6718</c:v>
                </c:pt>
                <c:pt idx="2">
                  <c:v>0.3268</c:v>
                </c:pt>
                <c:pt idx="3">
                  <c:v>0.1408</c:v>
                </c:pt>
                <c:pt idx="4">
                  <c:v>0.1014</c:v>
                </c:pt>
                <c:pt idx="5">
                  <c:v>0.0916</c:v>
                </c:pt>
                <c:pt idx="6">
                  <c:v>0.0876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LTN满足度</c:v>
                </c:pt>
              </c:strCache>
            </c:strRef>
          </c:tx>
          <c:spPr>
            <a:ln w="31750" cap="flat" cmpd="sng" algn="ctr">
              <a:solidFill>
                <a:srgbClr val="02C39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2C39A"/>
              </a:solidFill>
              <a:ln w="9525" cap="flat" cmpd="sng" algn="ctr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20</c:v>
                </c:pt>
                <c:pt idx="4">
                  <c:v>30</c:v>
                </c:pt>
                <c:pt idx="5">
                  <c:v>40</c:v>
                </c:pt>
                <c:pt idx="6">
                  <c:v>50</c:v>
                </c:pt>
              </c:numCache>
            </c:numRef>
          </c:cat>
          <c:val>
            <c:numRef>
              <c:f>Sheet1!$D$2:$D$8</c:f>
              <c:numCache>
                <c:formatCode>General</c:formatCode>
                <c:ptCount val="7"/>
                <c:pt idx="0">
                  <c:v>0.7332</c:v>
                </c:pt>
                <c:pt idx="1">
                  <c:v>0.8213</c:v>
                </c:pt>
                <c:pt idx="2">
                  <c:v>0.8426</c:v>
                </c:pt>
                <c:pt idx="3">
                  <c:v>0.8536</c:v>
                </c:pt>
                <c:pt idx="4">
                  <c:v>0.854</c:v>
                </c:pt>
                <c:pt idx="5">
                  <c:v>0.852</c:v>
                </c:pt>
                <c:pt idx="6">
                  <c:v>0.8542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ffb549c8-85e0-4374-8c7b-815d95bb8abe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满足度</c:v>
                </c:pt>
              </c:strCache>
            </c:strRef>
          </c:tx>
          <c:spPr>
            <a:solidFill>
              <a:srgbClr val="15803D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580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5803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rgbClr val="1E293B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R3 Commut→Fun</c:v>
                </c:pt>
                <c:pt idx="1">
                  <c:v>R5 Def→¬Thm</c:v>
                </c:pt>
                <c:pt idx="2">
                  <c:v>R1 Empty→¬Thm</c:v>
                </c:pt>
                <c:pt idx="3">
                  <c:v>R2 SetRel→¬Def</c:v>
                </c:pt>
                <c:pt idx="4">
                  <c:v>R4 ManySym→Thm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0.9933</c:v>
                </c:pt>
                <c:pt idx="1">
                  <c:v>0.942</c:v>
                </c:pt>
                <c:pt idx="2">
                  <c:v>0.917</c:v>
                </c:pt>
                <c:pt idx="3">
                  <c:v>0.8902</c:v>
                </c:pt>
                <c:pt idx="4">
                  <c:v>0.6135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5"/>
        </c:scaling>
        <c:delete val="0"/>
        <c:axPos val="b"/>
        <c:majorGridlines>
          <c:spPr>
            <a:ln w="1270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e5d073b4-0646-4864-a2e3-4fbca667caa6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3" Type="http://schemas.openxmlformats.org/officeDocument/2006/relationships/notesSlide" Target="../notesSlides/notesSlide11.xml"/><Relationship Id="rId22" Type="http://schemas.openxmlformats.org/officeDocument/2006/relationships/slideLayout" Target="../slideLayouts/slideLayout1.xml"/><Relationship Id="rId21" Type="http://schemas.openxmlformats.org/officeDocument/2006/relationships/image" Target="../media/image18.png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3" name="Shape 1"/>
          <p:cNvSpPr/>
          <p:nvPr/>
        </p:nvSpPr>
        <p:spPr>
          <a:xfrm>
            <a:off x="201168" y="402336"/>
            <a:ext cx="8759952" cy="47549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4" name="Text 2"/>
          <p:cNvSpPr/>
          <p:nvPr/>
        </p:nvSpPr>
        <p:spPr>
          <a:xfrm>
            <a:off x="438912" y="566928"/>
            <a:ext cx="8412480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Logic Tensor Networks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38912" y="1353312"/>
            <a:ext cx="841248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2C39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× CNF 数学公理多标签分类实验报告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38912" y="1920240"/>
            <a:ext cx="84124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基于 LTNtorch 的神经符号融合框架应用与改进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438912" y="2340864"/>
            <a:ext cx="8046720" cy="27432"/>
          </a:xfrm>
          <a:prstGeom prst="rect">
            <a:avLst/>
          </a:prstGeom>
          <a:solidFill>
            <a:srgbClr val="64748B"/>
          </a:solidFill>
        </p:spPr>
      </p:sp>
      <p:sp>
        <p:nvSpPr>
          <p:cNvPr id="8" name="Shape 6"/>
          <p:cNvSpPr/>
          <p:nvPr/>
        </p:nvSpPr>
        <p:spPr>
          <a:xfrm>
            <a:off x="438912" y="2505456"/>
            <a:ext cx="1993392" cy="786384"/>
          </a:xfrm>
          <a:prstGeom prst="rect">
            <a:avLst/>
          </a:prstGeom>
          <a:solidFill>
            <a:srgbClr val="0D1F35"/>
          </a:solidFill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8912" y="2542032"/>
            <a:ext cx="1993392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C39A"/>
                </a:solidFill>
              </a:rPr>
              <a:t>4,564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38912" y="2962656"/>
            <a:ext cx="199339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BBFD4"/>
                </a:solidFill>
              </a:rPr>
              <a:t>条公理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9464" y="2505456"/>
            <a:ext cx="1993392" cy="786384"/>
          </a:xfrm>
          <a:prstGeom prst="rect">
            <a:avLst/>
          </a:prstGeom>
          <a:solidFill>
            <a:srgbClr val="0D1F35"/>
          </a:solidFill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69464" y="2542032"/>
            <a:ext cx="1993392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C39A"/>
                </a:solidFill>
              </a:rPr>
              <a:t>7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569464" y="2962656"/>
            <a:ext cx="199339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BBFD4"/>
                </a:solidFill>
              </a:rPr>
              <a:t>个 LTN 谓词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0016" y="2505456"/>
            <a:ext cx="1993392" cy="786384"/>
          </a:xfrm>
          <a:prstGeom prst="rect">
            <a:avLst/>
          </a:prstGeom>
          <a:solidFill>
            <a:srgbClr val="0D1F35"/>
          </a:solidFill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00016" y="2542032"/>
            <a:ext cx="1993392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C39A"/>
                </a:solidFill>
              </a:rPr>
              <a:t>5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700016" y="2962656"/>
            <a:ext cx="199339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BBFD4"/>
                </a:solidFill>
              </a:rPr>
              <a:t>条逻辑规则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30568" y="2505456"/>
            <a:ext cx="1993392" cy="786384"/>
          </a:xfrm>
          <a:prstGeom prst="rect">
            <a:avLst/>
          </a:prstGeom>
          <a:solidFill>
            <a:srgbClr val="0D1F35"/>
          </a:solidFill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30568" y="2542032"/>
            <a:ext cx="1993392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C39A"/>
                </a:solidFill>
              </a:rPr>
              <a:t>87.1%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830568" y="2962656"/>
            <a:ext cx="199339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BBFD4"/>
                </a:solidFill>
              </a:rPr>
              <a:t>规则满足度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8912" y="3456432"/>
            <a:ext cx="8046720" cy="1353312"/>
          </a:xfrm>
          <a:prstGeom prst="rect">
            <a:avLst/>
          </a:prstGeom>
          <a:solidFill>
            <a:srgbClr val="071A30"/>
          </a:solidFill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66928" y="3547872"/>
            <a:ext cx="7772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本实验五项核心改进（相较原论文 LTNtorch）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" y="3858768"/>
            <a:ext cx="76809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① 混合损失函数（α=0.3）→ 彻底解决纯 LTN 的预测坍塌（Prediction Collapse）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94360" y="4078224"/>
            <a:ext cx="76809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② 动态正例权重（上限30）→ 处理 0.5% 极端类别不平衡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94360" y="4297680"/>
            <a:ext cx="76809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③ 7 谓词独立网络 + 5 条领域知识规则 → 多标签联合预测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94360" y="4517136"/>
            <a:ext cx="76809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④ LayerNorm + safe() + 梯度裁剪 → 数值稳定，全程零 NaN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94360" y="4736592"/>
            <a:ext cx="76809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⑤ Youden 动态阈值 → 适配多样正例率，公平评估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A2342"/>
          </a:solidFill>
        </p:spPr>
      </p:sp>
      <p:sp>
        <p:nvSpPr>
          <p:cNvPr id="3" name="Shape 1"/>
          <p:cNvSpPr/>
          <p:nvPr/>
        </p:nvSpPr>
        <p:spPr>
          <a:xfrm>
            <a:off x="0" y="548640"/>
            <a:ext cx="9144000" cy="43891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4" name="Text 2"/>
          <p:cNvSpPr/>
          <p:nvPr/>
        </p:nvSpPr>
        <p:spPr>
          <a:xfrm>
            <a:off x="320040" y="64008"/>
            <a:ext cx="85039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目  录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658368"/>
            <a:ext cx="4251960" cy="896112"/>
          </a:xfrm>
          <a:prstGeom prst="rect">
            <a:avLst/>
          </a:prstGeom>
          <a:solidFill>
            <a:srgbClr val="FFFFFF"/>
          </a:solidFill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658368"/>
            <a:ext cx="658368" cy="896112"/>
          </a:xfrm>
          <a:prstGeom prst="rect">
            <a:avLst/>
          </a:prstGeom>
          <a:solidFill>
            <a:srgbClr val="0A2342"/>
          </a:solidFill>
        </p:spPr>
      </p:sp>
      <p:sp>
        <p:nvSpPr>
          <p:cNvPr id="7" name="Text 5"/>
          <p:cNvSpPr/>
          <p:nvPr/>
        </p:nvSpPr>
        <p:spPr>
          <a:xfrm>
            <a:off x="256032" y="914400"/>
            <a:ext cx="65836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01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731520"/>
            <a:ext cx="3410712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</a:rPr>
              <a:t>实验背景与框架介绍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05840" y="1060704"/>
            <a:ext cx="3410712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神经符号融合 · LTN 原理 · Real Logic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6032" y="1682496"/>
            <a:ext cx="4251960" cy="896112"/>
          </a:xfrm>
          <a:prstGeom prst="rect">
            <a:avLst/>
          </a:prstGeom>
          <a:solidFill>
            <a:srgbClr val="FFFFFF"/>
          </a:solidFill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682496"/>
            <a:ext cx="658368" cy="896112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12" name="Text 10"/>
          <p:cNvSpPr/>
          <p:nvPr/>
        </p:nvSpPr>
        <p:spPr>
          <a:xfrm>
            <a:off x="256032" y="1938528"/>
            <a:ext cx="65836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02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05840" y="1755648"/>
            <a:ext cx="3410712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</a:rPr>
              <a:t>数据集与特征工程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05840" y="2084832"/>
            <a:ext cx="3410712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CNF 公理 · 7 类标签 · TF-IDF 特征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6032" y="2706624"/>
            <a:ext cx="4251960" cy="896112"/>
          </a:xfrm>
          <a:prstGeom prst="rect">
            <a:avLst/>
          </a:prstGeom>
          <a:solidFill>
            <a:srgbClr val="FFFFFF"/>
          </a:solidFill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6032" y="2706624"/>
            <a:ext cx="658368" cy="896112"/>
          </a:xfrm>
          <a:prstGeom prst="rect">
            <a:avLst/>
          </a:prstGeom>
          <a:solidFill>
            <a:srgbClr val="1D4ED8"/>
          </a:solidFill>
        </p:spPr>
      </p:sp>
      <p:sp>
        <p:nvSpPr>
          <p:cNvPr id="17" name="Text 15"/>
          <p:cNvSpPr/>
          <p:nvPr/>
        </p:nvSpPr>
        <p:spPr>
          <a:xfrm>
            <a:off x="256032" y="2962656"/>
            <a:ext cx="65836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03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05840" y="2779776"/>
            <a:ext cx="3410712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</a:rPr>
              <a:t>相较原论文的改进方案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05840" y="3108960"/>
            <a:ext cx="3410712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5 项改进 · 混合损失 · 加权 BCE · 动态阈值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6032" y="3730752"/>
            <a:ext cx="4251960" cy="896112"/>
          </a:xfrm>
          <a:prstGeom prst="rect">
            <a:avLst/>
          </a:prstGeom>
          <a:solidFill>
            <a:srgbClr val="FFFFFF"/>
          </a:solidFill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3730752"/>
            <a:ext cx="658368" cy="896112"/>
          </a:xfrm>
          <a:prstGeom prst="rect">
            <a:avLst/>
          </a:prstGeom>
          <a:solidFill>
            <a:srgbClr val="6D28D9"/>
          </a:solidFill>
        </p:spPr>
      </p:sp>
      <p:sp>
        <p:nvSpPr>
          <p:cNvPr id="22" name="Text 20"/>
          <p:cNvSpPr/>
          <p:nvPr/>
        </p:nvSpPr>
        <p:spPr>
          <a:xfrm>
            <a:off x="256032" y="3986784"/>
            <a:ext cx="65836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04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005840" y="3803904"/>
            <a:ext cx="3410712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</a:rPr>
              <a:t>主要计算方法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005840" y="4133088"/>
            <a:ext cx="3410712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Grounding 流程 · 蕴含计算 · 反向传播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36592" y="658368"/>
            <a:ext cx="4251960" cy="896112"/>
          </a:xfrm>
          <a:prstGeom prst="rect">
            <a:avLst/>
          </a:prstGeom>
          <a:solidFill>
            <a:srgbClr val="FFFFFF"/>
          </a:solidFill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36592" y="658368"/>
            <a:ext cx="658368" cy="896112"/>
          </a:xfrm>
          <a:prstGeom prst="rect">
            <a:avLst/>
          </a:prstGeom>
          <a:solidFill>
            <a:srgbClr val="15803D"/>
          </a:solidFill>
        </p:spPr>
      </p:sp>
      <p:sp>
        <p:nvSpPr>
          <p:cNvPr id="27" name="Text 25"/>
          <p:cNvSpPr/>
          <p:nvPr/>
        </p:nvSpPr>
        <p:spPr>
          <a:xfrm>
            <a:off x="4736592" y="914400"/>
            <a:ext cx="65836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05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486400" y="731520"/>
            <a:ext cx="3410712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</a:rPr>
              <a:t>实验结果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486400" y="1060704"/>
            <a:ext cx="3410712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训练曲线 · 分类性能 · 规则满足度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36592" y="1682496"/>
            <a:ext cx="4251960" cy="896112"/>
          </a:xfrm>
          <a:prstGeom prst="rect">
            <a:avLst/>
          </a:prstGeom>
          <a:solidFill>
            <a:srgbClr val="FFFFFF"/>
          </a:solidFill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36592" y="1682496"/>
            <a:ext cx="658368" cy="896112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32" name="Text 30"/>
          <p:cNvSpPr/>
          <p:nvPr/>
        </p:nvSpPr>
        <p:spPr>
          <a:xfrm>
            <a:off x="4736592" y="1938528"/>
            <a:ext cx="65836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06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5486400" y="1755648"/>
            <a:ext cx="3410712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</a:rPr>
              <a:t>改进效果分析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486400" y="2084832"/>
            <a:ext cx="3410712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量化验证 · 成功案例 · 受限场景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36592" y="2706624"/>
            <a:ext cx="4251960" cy="896112"/>
          </a:xfrm>
          <a:prstGeom prst="rect">
            <a:avLst/>
          </a:prstGeom>
          <a:solidFill>
            <a:srgbClr val="FFFFFF"/>
          </a:solidFill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36592" y="2706624"/>
            <a:ext cx="658368" cy="896112"/>
          </a:xfrm>
          <a:prstGeom prst="rect">
            <a:avLst/>
          </a:prstGeom>
          <a:solidFill>
            <a:srgbClr val="C0392B"/>
          </a:solidFill>
        </p:spPr>
      </p:sp>
      <p:sp>
        <p:nvSpPr>
          <p:cNvPr id="37" name="Text 35"/>
          <p:cNvSpPr/>
          <p:nvPr/>
        </p:nvSpPr>
        <p:spPr>
          <a:xfrm>
            <a:off x="4736592" y="2962656"/>
            <a:ext cx="65836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07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5486400" y="2779776"/>
            <a:ext cx="3410712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</a:rPr>
              <a:t>结论与展望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486400" y="3108960"/>
            <a:ext cx="3410712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主要发现 · 局限性 · 未来方向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A2342"/>
          </a:solidFill>
        </p:spPr>
      </p:sp>
      <p:sp>
        <p:nvSpPr>
          <p:cNvPr id="3" name="Shape 1"/>
          <p:cNvSpPr/>
          <p:nvPr/>
        </p:nvSpPr>
        <p:spPr>
          <a:xfrm>
            <a:off x="0" y="548640"/>
            <a:ext cx="9144000" cy="43891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4" name="Text 2"/>
          <p:cNvSpPr/>
          <p:nvPr/>
        </p:nvSpPr>
        <p:spPr>
          <a:xfrm>
            <a:off x="320040" y="64008"/>
            <a:ext cx="62179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01  LTN 框架原理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583680" y="109728"/>
            <a:ext cx="24231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02C39A"/>
                </a:solidFill>
              </a:rPr>
              <a:t>Badreddine et al. 2022 · Carraro et al. 2024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56032" y="658368"/>
            <a:ext cx="2880360" cy="4315968"/>
          </a:xfrm>
          <a:prstGeom prst="rect">
            <a:avLst/>
          </a:prstGeom>
          <a:solidFill>
            <a:srgbClr val="0A2342"/>
          </a:solidFill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" y="713232"/>
            <a:ext cx="2697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</a:rPr>
              <a:t>LTN 工作流程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" y="1078992"/>
            <a:ext cx="2697480" cy="1143000"/>
          </a:xfrm>
          <a:prstGeom prst="rect">
            <a:avLst/>
          </a:prstGeom>
          <a:solidFill>
            <a:srgbClr val="0D1F35"/>
          </a:solidFill>
        </p:spPr>
      </p:sp>
      <p:sp>
        <p:nvSpPr>
          <p:cNvPr id="9" name="Shape 7"/>
          <p:cNvSpPr/>
          <p:nvPr/>
        </p:nvSpPr>
        <p:spPr>
          <a:xfrm>
            <a:off x="347472" y="1078992"/>
            <a:ext cx="420624" cy="114300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10" name="Text 8"/>
          <p:cNvSpPr/>
          <p:nvPr/>
        </p:nvSpPr>
        <p:spPr>
          <a:xfrm>
            <a:off x="347472" y="1426464"/>
            <a:ext cx="420624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①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1133856"/>
            <a:ext cx="216712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</a:rPr>
              <a:t>Grounding（接地）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1426464"/>
            <a:ext cx="2167128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chemeClr val="bg1"/>
                </a:solidFill>
              </a:rPr>
              <a:t>G(常量) → 实数张量</a:t>
            </a:r>
            <a:endParaRPr lang="en-US" sz="88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880" dirty="0">
                <a:solidFill>
                  <a:schemeClr val="bg1"/>
                </a:solidFill>
              </a:rPr>
              <a:t>G(谓词|θ): ℝᵈ→[0,1]</a:t>
            </a:r>
            <a:endParaRPr lang="en-US" sz="88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880" dirty="0">
                <a:solidFill>
                  <a:schemeClr val="bg1"/>
                </a:solidFill>
              </a:rPr>
              <a:t>G(变量x) → 批次数据序列</a:t>
            </a:r>
            <a:endParaRPr lang="en-US" sz="88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880" dirty="0">
                <a:solidFill>
                  <a:schemeClr val="bg1"/>
                </a:solidFill>
              </a:rPr>
              <a:t>所有表达式映射到实数域</a:t>
            </a:r>
            <a:endParaRPr lang="en-US" sz="880" dirty="0">
              <a:solidFill>
                <a:schemeClr val="bg1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691640" y="2221992"/>
            <a:ext cx="0" cy="118872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" y="2340864"/>
            <a:ext cx="2697480" cy="1143000"/>
          </a:xfrm>
          <a:prstGeom prst="rect">
            <a:avLst/>
          </a:prstGeom>
          <a:solidFill>
            <a:srgbClr val="0D1F35"/>
          </a:solidFill>
        </p:spPr>
      </p:sp>
      <p:sp>
        <p:nvSpPr>
          <p:cNvPr id="15" name="Shape 13"/>
          <p:cNvSpPr/>
          <p:nvPr/>
        </p:nvSpPr>
        <p:spPr>
          <a:xfrm>
            <a:off x="347472" y="2340864"/>
            <a:ext cx="420624" cy="114300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16" name="Text 14"/>
          <p:cNvSpPr/>
          <p:nvPr/>
        </p:nvSpPr>
        <p:spPr>
          <a:xfrm>
            <a:off x="347472" y="2688336"/>
            <a:ext cx="420624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②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" y="2395728"/>
            <a:ext cx="216712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</a:rPr>
              <a:t>Fuzzy Semantics（模糊语义）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" y="2688336"/>
            <a:ext cx="2167128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chemeClr val="bg1"/>
                </a:solidFill>
              </a:rPr>
              <a:t>Product 配置（梯度最优）</a:t>
            </a:r>
            <a:endParaRPr lang="en-US" sz="88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880" dirty="0">
                <a:solidFill>
                  <a:schemeClr val="bg1"/>
                </a:solidFill>
              </a:rPr>
              <a:t>真值连续区间 [0,1]</a:t>
            </a:r>
            <a:endParaRPr lang="en-US" sz="88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880" dirty="0">
                <a:solidFill>
                  <a:schemeClr val="bg1"/>
                </a:solidFill>
              </a:rPr>
              <a:t>见右侧公式</a:t>
            </a:r>
            <a:endParaRPr lang="en-US" sz="880" dirty="0">
              <a:solidFill>
                <a:schemeClr val="bg1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691640" y="3483864"/>
            <a:ext cx="0" cy="118872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3602736"/>
            <a:ext cx="2697480" cy="1143000"/>
          </a:xfrm>
          <a:prstGeom prst="rect">
            <a:avLst/>
          </a:prstGeom>
          <a:solidFill>
            <a:srgbClr val="0D1F35"/>
          </a:solidFill>
        </p:spPr>
      </p:sp>
      <p:sp>
        <p:nvSpPr>
          <p:cNvPr id="21" name="Shape 19"/>
          <p:cNvSpPr/>
          <p:nvPr/>
        </p:nvSpPr>
        <p:spPr>
          <a:xfrm>
            <a:off x="347472" y="3602736"/>
            <a:ext cx="420624" cy="114300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22" name="Text 20"/>
          <p:cNvSpPr/>
          <p:nvPr/>
        </p:nvSpPr>
        <p:spPr>
          <a:xfrm>
            <a:off x="347472" y="3950208"/>
            <a:ext cx="420624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③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22960" y="3657600"/>
            <a:ext cx="216712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</a:rPr>
              <a:t>Gradient Optimization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" y="3950208"/>
            <a:ext cx="2167128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chemeClr val="bg1"/>
                </a:solidFill>
              </a:rPr>
              <a:t>最小化 L_LTN(θ)= 1 − SatAgg(K)</a:t>
            </a:r>
            <a:endParaRPr lang="en-US" sz="88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880" dirty="0">
                <a:solidFill>
                  <a:schemeClr val="bg1"/>
                </a:solidFill>
              </a:rPr>
              <a:t>端到端反向传播</a:t>
            </a:r>
            <a:endParaRPr lang="en-US" sz="88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880" dirty="0">
                <a:solidFill>
                  <a:schemeClr val="bg1"/>
                </a:solidFill>
              </a:rPr>
              <a:t>优化谓词参数 θ</a:t>
            </a:r>
            <a:endParaRPr lang="en-US" sz="880" dirty="0">
              <a:solidFill>
                <a:schemeClr val="bg1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310128" y="658368"/>
            <a:ext cx="5577840" cy="1664208"/>
          </a:xfrm>
          <a:prstGeom prst="rect">
            <a:avLst/>
          </a:prstGeom>
          <a:solidFill>
            <a:srgbClr val="0A2342"/>
          </a:solidFill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10128" y="658368"/>
            <a:ext cx="5577840" cy="310896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27" name="Text 25"/>
          <p:cNvSpPr/>
          <p:nvPr/>
        </p:nvSpPr>
        <p:spPr>
          <a:xfrm>
            <a:off x="3383280" y="658368"/>
            <a:ext cx="5431536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Product 模糊语义算子（全程可微）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401568" y="1042416"/>
            <a:ext cx="5394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bg1"/>
                </a:solidFill>
              </a:rPr>
              <a:t>AND: </a:t>
            </a:r>
            <a:r>
              <a:rPr lang="en-US" sz="115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u·v    </a:t>
            </a:r>
            <a:r>
              <a:rPr lang="en-US" sz="1150" b="1" dirty="0">
                <a:solidFill>
                  <a:schemeClr val="bg1"/>
                </a:solidFill>
              </a:rPr>
              <a:t>OR: </a:t>
            </a:r>
            <a:r>
              <a:rPr lang="en-US" sz="115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u+v−uv    </a:t>
            </a:r>
            <a:r>
              <a:rPr lang="en-US" sz="1150" b="1" dirty="0">
                <a:solidFill>
                  <a:schemeClr val="bg1"/>
                </a:solidFill>
              </a:rPr>
              <a:t>NOT: </a:t>
            </a:r>
            <a:r>
              <a:rPr lang="en-US" sz="115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1−u    </a:t>
            </a:r>
            <a:r>
              <a:rPr lang="en-US" sz="1150" b="1" dirty="0">
                <a:solidFill>
                  <a:schemeClr val="bg1"/>
                </a:solidFill>
              </a:rPr>
              <a:t>IMP: </a:t>
            </a:r>
            <a:r>
              <a:rPr lang="en-US" sz="115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1−u+uv</a:t>
            </a:r>
            <a:endParaRPr lang="en-US" sz="1150" dirty="0">
              <a:solidFill>
                <a:schemeClr val="bg1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01568" y="1389888"/>
            <a:ext cx="3065069" cy="438912"/>
          </a:xfrm>
          <a:prstGeom prst="rect">
            <a:avLst/>
          </a:prstGeom>
        </p:spPr>
      </p:pic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568" y="1883664"/>
            <a:ext cx="2121408" cy="384048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3310128" y="2432304"/>
            <a:ext cx="5577840" cy="1316736"/>
          </a:xfrm>
          <a:prstGeom prst="rect">
            <a:avLst/>
          </a:prstGeom>
          <a:solidFill>
            <a:srgbClr val="0A2342"/>
          </a:solidFill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3310128" y="2432304"/>
            <a:ext cx="5577840" cy="292608"/>
          </a:xfrm>
          <a:prstGeom prst="rect">
            <a:avLst/>
          </a:prstGeom>
          <a:solidFill>
            <a:srgbClr val="152A45"/>
          </a:solidFill>
        </p:spPr>
      </p:sp>
      <p:sp>
        <p:nvSpPr>
          <p:cNvPr id="33" name="Text 29"/>
          <p:cNvSpPr/>
          <p:nvPr/>
        </p:nvSpPr>
        <p:spPr>
          <a:xfrm>
            <a:off x="3383280" y="2432304"/>
            <a:ext cx="5431536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原论文学习目标</a:t>
            </a:r>
            <a:endParaRPr lang="en-US" sz="1050" dirty="0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568" y="2779776"/>
            <a:ext cx="2824582" cy="365760"/>
          </a:xfrm>
          <a:prstGeom prst="rect">
            <a:avLst/>
          </a:prstGeom>
        </p:spPr>
      </p:pic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3218688"/>
            <a:ext cx="3989527" cy="365760"/>
          </a:xfrm>
          <a:prstGeom prst="rect">
            <a:avLst/>
          </a:prstGeom>
        </p:spPr>
      </p:pic>
      <p:sp>
        <p:nvSpPr>
          <p:cNvPr id="36" name="Shape 30"/>
          <p:cNvSpPr/>
          <p:nvPr/>
        </p:nvSpPr>
        <p:spPr>
          <a:xfrm>
            <a:off x="3310128" y="3858768"/>
            <a:ext cx="5577840" cy="1115568"/>
          </a:xfrm>
          <a:prstGeom prst="rect">
            <a:avLst/>
          </a:prstGeom>
          <a:solidFill>
            <a:srgbClr val="FFFFFF"/>
          </a:solidFill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3310128" y="3748913"/>
            <a:ext cx="5577840" cy="292608"/>
          </a:xfrm>
          <a:prstGeom prst="rect">
            <a:avLst/>
          </a:prstGeom>
          <a:solidFill>
            <a:srgbClr val="1D4ED8"/>
          </a:solidFill>
        </p:spPr>
      </p:sp>
      <p:sp>
        <p:nvSpPr>
          <p:cNvPr id="38" name="Text 32"/>
          <p:cNvSpPr/>
          <p:nvPr/>
        </p:nvSpPr>
        <p:spPr>
          <a:xfrm>
            <a:off x="3310255" y="3748913"/>
            <a:ext cx="5431536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原论文示例 vs 本实验</a:t>
            </a:r>
            <a:endParaRPr lang="en-US" sz="105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/>
        </p:nvGraphicFramePr>
        <p:xfrm>
          <a:off x="3315208" y="3988054"/>
          <a:ext cx="5394960" cy="749810"/>
        </p:xfrm>
        <a:graphic>
          <a:graphicData uri="http://schemas.openxmlformats.org/drawingml/2006/table">
            <a:tbl>
              <a:tblPr/>
              <a:tblGrid>
                <a:gridCol w="1463040"/>
                <a:gridCol w="1965960"/>
                <a:gridCol w="1965960"/>
              </a:tblGrid>
              <a:tr h="1499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维度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猫狗示例（原论文）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CNF 实验（本文）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</a:tr>
              <a:tr h="14996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谓词数量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 个（Dog）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7 个多标签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996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规则数量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 条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5 条领域规则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</a:tr>
              <a:tr h="14996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类别平衡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完全均衡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0.5%~81%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996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预测坍塌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不存在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混合损失解决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A2342"/>
          </a:solidFill>
        </p:spPr>
      </p:sp>
      <p:sp>
        <p:nvSpPr>
          <p:cNvPr id="3" name="Shape 1"/>
          <p:cNvSpPr/>
          <p:nvPr/>
        </p:nvSpPr>
        <p:spPr>
          <a:xfrm>
            <a:off x="0" y="548640"/>
            <a:ext cx="9144000" cy="43891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4" name="Text 2"/>
          <p:cNvSpPr/>
          <p:nvPr/>
        </p:nvSpPr>
        <p:spPr>
          <a:xfrm>
            <a:off x="320040" y="64008"/>
            <a:ext cx="62179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02  数据集与特征工程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583680" y="109728"/>
            <a:ext cx="24231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02C39A"/>
                </a:solidFill>
              </a:rPr>
              <a:t>CNF 格式 TPTP 数学公理 · TF-IDF 特征表示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56032" y="658368"/>
            <a:ext cx="3017520" cy="4315968"/>
          </a:xfrm>
          <a:prstGeom prst="rect">
            <a:avLst/>
          </a:prstGeom>
          <a:solidFill>
            <a:srgbClr val="FFFFFF"/>
          </a:solidFill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658368"/>
            <a:ext cx="3017520" cy="310896"/>
          </a:xfrm>
          <a:prstGeom prst="rect">
            <a:avLst/>
          </a:prstGeom>
          <a:solidFill>
            <a:srgbClr val="0A2342"/>
          </a:solidFill>
        </p:spPr>
      </p:sp>
      <p:sp>
        <p:nvSpPr>
          <p:cNvPr id="8" name="Text 6"/>
          <p:cNvSpPr/>
          <p:nvPr/>
        </p:nvSpPr>
        <p:spPr>
          <a:xfrm>
            <a:off x="329184" y="658368"/>
            <a:ext cx="2871216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数据集概览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7472" y="1042416"/>
            <a:ext cx="2834640" cy="347472"/>
          </a:xfrm>
          <a:prstGeom prst="rect">
            <a:avLst/>
          </a:prstGeom>
          <a:solidFill>
            <a:srgbClr val="EBF4FA"/>
          </a:solidFill>
        </p:spPr>
      </p:sp>
      <p:sp>
        <p:nvSpPr>
          <p:cNvPr id="10" name="Text 8"/>
          <p:cNvSpPr/>
          <p:nvPr/>
        </p:nvSpPr>
        <p:spPr>
          <a:xfrm>
            <a:off x="438912" y="1078992"/>
            <a:ext cx="1371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公理总数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1810512" y="1078992"/>
            <a:ext cx="1280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293B"/>
                </a:solidFill>
              </a:rPr>
              <a:t>4,564 条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" y="1444752"/>
            <a:ext cx="2834640" cy="34747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" name="Text 11"/>
          <p:cNvSpPr/>
          <p:nvPr/>
        </p:nvSpPr>
        <p:spPr>
          <a:xfrm>
            <a:off x="438912" y="1481328"/>
            <a:ext cx="1371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训练/测试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1810512" y="1481328"/>
            <a:ext cx="1280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293B"/>
                </a:solidFill>
              </a:rPr>
              <a:t>3,651 / 913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" y="1847088"/>
            <a:ext cx="2834640" cy="347472"/>
          </a:xfrm>
          <a:prstGeom prst="rect">
            <a:avLst/>
          </a:prstGeom>
          <a:solidFill>
            <a:srgbClr val="EBF4FA"/>
          </a:solidFill>
        </p:spPr>
      </p:sp>
      <p:sp>
        <p:nvSpPr>
          <p:cNvPr id="16" name="Text 14"/>
          <p:cNvSpPr/>
          <p:nvPr/>
        </p:nvSpPr>
        <p:spPr>
          <a:xfrm>
            <a:off x="438912" y="1883664"/>
            <a:ext cx="1371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符号词表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1810512" y="1883664"/>
            <a:ext cx="1280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293B"/>
                </a:solidFill>
              </a:rPr>
              <a:t>2,685 个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2249424"/>
            <a:ext cx="2834640" cy="34747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9" name="Text 17"/>
          <p:cNvSpPr/>
          <p:nvPr/>
        </p:nvSpPr>
        <p:spPr>
          <a:xfrm>
            <a:off x="438912" y="2286000"/>
            <a:ext cx="1371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TF-IDF 维度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1810512" y="2286000"/>
            <a:ext cx="1280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293B"/>
                </a:solidFill>
              </a:rPr>
              <a:t>300 维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7472" y="2651760"/>
            <a:ext cx="2834640" cy="347472"/>
          </a:xfrm>
          <a:prstGeom prst="rect">
            <a:avLst/>
          </a:prstGeom>
          <a:solidFill>
            <a:srgbClr val="EBF4FA"/>
          </a:solidFill>
        </p:spPr>
      </p:sp>
      <p:sp>
        <p:nvSpPr>
          <p:cNvPr id="22" name="Text 20"/>
          <p:cNvSpPr/>
          <p:nvPr/>
        </p:nvSpPr>
        <p:spPr>
          <a:xfrm>
            <a:off x="438912" y="2688336"/>
            <a:ext cx="1371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非零特征率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1810512" y="2688336"/>
            <a:ext cx="1280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293B"/>
                </a:solidFill>
              </a:rPr>
              <a:t>≈ 2.0%（稀疏）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7472" y="3054096"/>
            <a:ext cx="2834640" cy="34747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5" name="Text 23"/>
          <p:cNvSpPr/>
          <p:nvPr/>
        </p:nvSpPr>
        <p:spPr>
          <a:xfrm>
            <a:off x="438912" y="3090672"/>
            <a:ext cx="1371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随机种子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1810512" y="3090672"/>
            <a:ext cx="1280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293B"/>
                </a:solidFill>
              </a:rPr>
              <a:t>42（固定）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7472" y="3547872"/>
            <a:ext cx="2834640" cy="1335024"/>
          </a:xfrm>
          <a:prstGeom prst="rect">
            <a:avLst/>
          </a:prstGeom>
          <a:solidFill>
            <a:srgbClr val="152A45"/>
          </a:solidFill>
        </p:spPr>
      </p:sp>
      <p:sp>
        <p:nvSpPr>
          <p:cNvPr id="28" name="Text 26"/>
          <p:cNvSpPr/>
          <p:nvPr/>
        </p:nvSpPr>
        <p:spPr>
          <a:xfrm>
            <a:off x="438912" y="3602736"/>
            <a:ext cx="26517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C39A"/>
                </a:solidFill>
              </a:rPr>
              <a:t>FOF 公理格式示例：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02336" y="3822192"/>
            <a:ext cx="2724912" cy="9875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fof(t1_xboole_0, theorem,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![A]:(A \ {} = A)).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fof(commutativity_k2, axiom,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![A,B]:k2(A,B)=k2(B,A)).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456432" y="658368"/>
            <a:ext cx="2926080" cy="4315968"/>
          </a:xfrm>
          <a:prstGeom prst="rect">
            <a:avLst/>
          </a:prstGeom>
          <a:solidFill>
            <a:srgbClr val="FFFFFF"/>
          </a:solidFill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456432" y="658368"/>
            <a:ext cx="2926080" cy="310896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32" name="Text 30"/>
          <p:cNvSpPr/>
          <p:nvPr/>
        </p:nvSpPr>
        <p:spPr>
          <a:xfrm>
            <a:off x="3529584" y="658368"/>
            <a:ext cx="2779776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7 个分类谓词与正例率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547872" y="1042416"/>
            <a:ext cx="2743200" cy="402336"/>
          </a:xfrm>
          <a:prstGeom prst="rect">
            <a:avLst/>
          </a:prstGeom>
          <a:solidFill>
            <a:srgbClr val="EBF4FA"/>
          </a:solidFill>
        </p:spPr>
      </p:sp>
      <p:sp>
        <p:nvSpPr>
          <p:cNvPr id="34" name="Text 32"/>
          <p:cNvSpPr/>
          <p:nvPr/>
        </p:nvSpPr>
        <p:spPr>
          <a:xfrm>
            <a:off x="3621024" y="1106424"/>
            <a:ext cx="10058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</a:rPr>
              <a:t>theorem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00016" y="1170432"/>
            <a:ext cx="1371600" cy="14630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6" name="Shape 34"/>
          <p:cNvSpPr/>
          <p:nvPr/>
        </p:nvSpPr>
        <p:spPr>
          <a:xfrm>
            <a:off x="4700016" y="1170432"/>
            <a:ext cx="683057" cy="146304"/>
          </a:xfrm>
          <a:prstGeom prst="rect">
            <a:avLst/>
          </a:prstGeom>
          <a:solidFill>
            <a:srgbClr val="0A2342"/>
          </a:solidFill>
        </p:spPr>
      </p:sp>
      <p:sp>
        <p:nvSpPr>
          <p:cNvPr id="37" name="Text 35"/>
          <p:cNvSpPr/>
          <p:nvPr/>
        </p:nvSpPr>
        <p:spPr>
          <a:xfrm>
            <a:off x="6126480" y="1115568"/>
            <a:ext cx="475488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2342"/>
                </a:solidFill>
              </a:rPr>
              <a:t>49.8%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547872" y="1499616"/>
            <a:ext cx="2743200" cy="40233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9" name="Text 37"/>
          <p:cNvSpPr/>
          <p:nvPr/>
        </p:nvSpPr>
        <p:spPr>
          <a:xfrm>
            <a:off x="3621024" y="1563624"/>
            <a:ext cx="10058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D8"/>
                </a:solidFill>
              </a:rPr>
              <a:t>definition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00016" y="1627632"/>
            <a:ext cx="1371600" cy="14630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1" name="Shape 39"/>
          <p:cNvSpPr/>
          <p:nvPr/>
        </p:nvSpPr>
        <p:spPr>
          <a:xfrm>
            <a:off x="4700016" y="1627632"/>
            <a:ext cx="128930" cy="146304"/>
          </a:xfrm>
          <a:prstGeom prst="rect">
            <a:avLst/>
          </a:prstGeom>
          <a:solidFill>
            <a:srgbClr val="1D4ED8"/>
          </a:solidFill>
        </p:spPr>
      </p:sp>
      <p:sp>
        <p:nvSpPr>
          <p:cNvPr id="42" name="Text 40"/>
          <p:cNvSpPr/>
          <p:nvPr/>
        </p:nvSpPr>
        <p:spPr>
          <a:xfrm>
            <a:off x="6126480" y="1572768"/>
            <a:ext cx="475488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4ED8"/>
                </a:solidFill>
              </a:rPr>
              <a:t>9.4%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547872" y="1956816"/>
            <a:ext cx="2743200" cy="402336"/>
          </a:xfrm>
          <a:prstGeom prst="rect">
            <a:avLst/>
          </a:prstGeom>
          <a:solidFill>
            <a:srgbClr val="EBF4FA"/>
          </a:solidFill>
        </p:spPr>
      </p:sp>
      <p:sp>
        <p:nvSpPr>
          <p:cNvPr id="44" name="Text 42"/>
          <p:cNvSpPr/>
          <p:nvPr/>
        </p:nvSpPr>
        <p:spPr>
          <a:xfrm>
            <a:off x="3621024" y="2020824"/>
            <a:ext cx="10058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empty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700016" y="2084832"/>
            <a:ext cx="1371600" cy="14630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6" name="Shape 44"/>
          <p:cNvSpPr/>
          <p:nvPr/>
        </p:nvSpPr>
        <p:spPr>
          <a:xfrm>
            <a:off x="4700016" y="2084832"/>
            <a:ext cx="185166" cy="146304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47" name="Text 45"/>
          <p:cNvSpPr/>
          <p:nvPr/>
        </p:nvSpPr>
        <p:spPr>
          <a:xfrm>
            <a:off x="6126480" y="2029968"/>
            <a:ext cx="475488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</a:rPr>
              <a:t>13.5%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547872" y="2414016"/>
            <a:ext cx="2743200" cy="40233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9" name="Text 47"/>
          <p:cNvSpPr/>
          <p:nvPr/>
        </p:nvSpPr>
        <p:spPr>
          <a:xfrm>
            <a:off x="3621024" y="2478024"/>
            <a:ext cx="10058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803D"/>
                </a:solidFill>
              </a:rPr>
              <a:t>setrel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700016" y="2542032"/>
            <a:ext cx="1371600" cy="14630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1" name="Shape 49"/>
          <p:cNvSpPr/>
          <p:nvPr/>
        </p:nvSpPr>
        <p:spPr>
          <a:xfrm>
            <a:off x="4700016" y="2542032"/>
            <a:ext cx="405994" cy="146304"/>
          </a:xfrm>
          <a:prstGeom prst="rect">
            <a:avLst/>
          </a:prstGeom>
          <a:solidFill>
            <a:srgbClr val="15803D"/>
          </a:solidFill>
        </p:spPr>
      </p:sp>
      <p:sp>
        <p:nvSpPr>
          <p:cNvPr id="52" name="Text 50"/>
          <p:cNvSpPr/>
          <p:nvPr/>
        </p:nvSpPr>
        <p:spPr>
          <a:xfrm>
            <a:off x="6126480" y="2487168"/>
            <a:ext cx="475488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803D"/>
                </a:solidFill>
              </a:rPr>
              <a:t>29.6%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547872" y="2871216"/>
            <a:ext cx="2743200" cy="402336"/>
          </a:xfrm>
          <a:prstGeom prst="rect">
            <a:avLst/>
          </a:prstGeom>
          <a:solidFill>
            <a:srgbClr val="EBF4FA"/>
          </a:solidFill>
        </p:spPr>
      </p:sp>
      <p:sp>
        <p:nvSpPr>
          <p:cNvPr id="54" name="Text 52"/>
          <p:cNvSpPr/>
          <p:nvPr/>
        </p:nvSpPr>
        <p:spPr>
          <a:xfrm>
            <a:off x="3621024" y="2935224"/>
            <a:ext cx="10058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</a:rPr>
              <a:t>commut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700016" y="2999232"/>
            <a:ext cx="1371600" cy="14630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6" name="Shape 54"/>
          <p:cNvSpPr/>
          <p:nvPr/>
        </p:nvSpPr>
        <p:spPr>
          <a:xfrm>
            <a:off x="4700016" y="2999232"/>
            <a:ext cx="6858" cy="146304"/>
          </a:xfrm>
          <a:prstGeom prst="rect">
            <a:avLst/>
          </a:prstGeom>
          <a:solidFill>
            <a:srgbClr val="C0392B"/>
          </a:solidFill>
        </p:spPr>
      </p:sp>
      <p:sp>
        <p:nvSpPr>
          <p:cNvPr id="57" name="Text 55"/>
          <p:cNvSpPr/>
          <p:nvPr/>
        </p:nvSpPr>
        <p:spPr>
          <a:xfrm>
            <a:off x="6126480" y="2944368"/>
            <a:ext cx="475488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</a:rPr>
              <a:t>0.5%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547872" y="3328416"/>
            <a:ext cx="2743200" cy="40233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9" name="Text 57"/>
          <p:cNvSpPr/>
          <p:nvPr/>
        </p:nvSpPr>
        <p:spPr>
          <a:xfrm>
            <a:off x="3621024" y="3392424"/>
            <a:ext cx="10058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8D9"/>
                </a:solidFill>
              </a:rPr>
              <a:t>functor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700016" y="3456432"/>
            <a:ext cx="1371600" cy="14630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1" name="Shape 59"/>
          <p:cNvSpPr/>
          <p:nvPr/>
        </p:nvSpPr>
        <p:spPr>
          <a:xfrm>
            <a:off x="4700016" y="3456432"/>
            <a:ext cx="1110996" cy="146304"/>
          </a:xfrm>
          <a:prstGeom prst="rect">
            <a:avLst/>
          </a:prstGeom>
          <a:solidFill>
            <a:srgbClr val="6D28D9"/>
          </a:solidFill>
        </p:spPr>
      </p:sp>
      <p:sp>
        <p:nvSpPr>
          <p:cNvPr id="62" name="Text 60"/>
          <p:cNvSpPr/>
          <p:nvPr/>
        </p:nvSpPr>
        <p:spPr>
          <a:xfrm>
            <a:off x="6126480" y="3401568"/>
            <a:ext cx="475488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D28D9"/>
                </a:solidFill>
              </a:rPr>
              <a:t>81%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3547872" y="3785616"/>
            <a:ext cx="2743200" cy="402336"/>
          </a:xfrm>
          <a:prstGeom prst="rect">
            <a:avLst/>
          </a:prstGeom>
          <a:solidFill>
            <a:srgbClr val="EBF4FA"/>
          </a:solidFill>
        </p:spPr>
      </p:sp>
      <p:sp>
        <p:nvSpPr>
          <p:cNvPr id="64" name="Text 62"/>
          <p:cNvSpPr/>
          <p:nvPr/>
        </p:nvSpPr>
        <p:spPr>
          <a:xfrm>
            <a:off x="3621024" y="3849624"/>
            <a:ext cx="10058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</a:rPr>
              <a:t>manysym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700016" y="3913632"/>
            <a:ext cx="1371600" cy="14630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6" name="Shape 64"/>
          <p:cNvSpPr/>
          <p:nvPr/>
        </p:nvSpPr>
        <p:spPr>
          <a:xfrm>
            <a:off x="4700016" y="3913632"/>
            <a:ext cx="588416" cy="146304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67" name="Text 65"/>
          <p:cNvSpPr/>
          <p:nvPr/>
        </p:nvSpPr>
        <p:spPr>
          <a:xfrm>
            <a:off x="6126480" y="3858768"/>
            <a:ext cx="475488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</a:rPr>
              <a:t>42.9%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3547872" y="4279392"/>
            <a:ext cx="274320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392B"/>
                </a:solidFill>
              </a:rPr>
              <a:t>⚠ commut 正例率仅 0.5%（极端不平衡）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0392B"/>
                </a:solidFill>
              </a:rPr>
              <a:t>⚠ functor 正例率 81%（反向不平衡）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565392" y="658368"/>
            <a:ext cx="2322576" cy="4315968"/>
          </a:xfrm>
          <a:prstGeom prst="rect">
            <a:avLst/>
          </a:prstGeom>
          <a:solidFill>
            <a:srgbClr val="FFFFFF"/>
          </a:solidFill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6565392" y="658368"/>
            <a:ext cx="2322576" cy="310896"/>
          </a:xfrm>
          <a:prstGeom prst="rect">
            <a:avLst/>
          </a:prstGeom>
          <a:solidFill>
            <a:srgbClr val="1D4ED8"/>
          </a:solidFill>
        </p:spPr>
      </p:sp>
      <p:sp>
        <p:nvSpPr>
          <p:cNvPr id="71" name="Text 69"/>
          <p:cNvSpPr/>
          <p:nvPr/>
        </p:nvSpPr>
        <p:spPr>
          <a:xfrm>
            <a:off x="6638544" y="658368"/>
            <a:ext cx="2176272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TF-IDF 特征构建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6656832" y="1042416"/>
            <a:ext cx="2139696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相较 BOW 的改进：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6656832" y="1298448"/>
            <a:ext cx="2139696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IDF 权重压制高频通用符号</a:t>
            </a:r>
            <a:endParaRPr lang="en-US" sz="12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（如 r1_tarski 普遍出现）</a:t>
            </a:r>
            <a:endParaRPr lang="en-US" sz="12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突出区分性稀有符号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74" name="Text 72"/>
          <p:cNvSpPr/>
          <p:nvPr/>
        </p:nvSpPr>
        <p:spPr>
          <a:xfrm>
            <a:off x="6656832" y="1956816"/>
            <a:ext cx="2139696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IDF 公式（拉普拉斯平滑）：</a:t>
            </a:r>
            <a:endParaRPr lang="en-US" sz="950" dirty="0"/>
          </a:p>
        </p:txBody>
      </p:sp>
      <p:pic>
        <p:nvPicPr>
          <p:cNvPr id="7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56832" y="2194560"/>
            <a:ext cx="2144268" cy="347472"/>
          </a:xfrm>
          <a:prstGeom prst="rect">
            <a:avLst/>
          </a:prstGeom>
        </p:spPr>
      </p:pic>
      <p:sp>
        <p:nvSpPr>
          <p:cNvPr id="76" name="Text 73"/>
          <p:cNvSpPr/>
          <p:nvPr/>
        </p:nvSpPr>
        <p:spPr>
          <a:xfrm>
            <a:off x="6656832" y="2651760"/>
            <a:ext cx="2139696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L2 归一化（消除长度偏置）：</a:t>
            </a:r>
            <a:endParaRPr lang="en-US" sz="950" dirty="0"/>
          </a:p>
        </p:txBody>
      </p:sp>
      <p:pic>
        <p:nvPicPr>
          <p:cNvPr id="7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2889504"/>
            <a:ext cx="1238098" cy="329184"/>
          </a:xfrm>
          <a:prstGeom prst="rect">
            <a:avLst/>
          </a:prstGeom>
        </p:spPr>
      </p:pic>
      <p:sp>
        <p:nvSpPr>
          <p:cNvPr id="78" name="Shape 74"/>
          <p:cNvSpPr/>
          <p:nvPr/>
        </p:nvSpPr>
        <p:spPr>
          <a:xfrm>
            <a:off x="6656832" y="3310128"/>
            <a:ext cx="2139696" cy="1572768"/>
          </a:xfrm>
          <a:prstGeom prst="rect">
            <a:avLst/>
          </a:prstGeom>
          <a:solidFill>
            <a:srgbClr val="EBF4FA"/>
          </a:solidFill>
        </p:spPr>
      </p:sp>
      <p:sp>
        <p:nvSpPr>
          <p:cNvPr id="79" name="Text 75"/>
          <p:cNvSpPr/>
          <p:nvPr/>
        </p:nvSpPr>
        <p:spPr>
          <a:xfrm>
            <a:off x="6729984" y="3364992"/>
            <a:ext cx="1993392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090"/>
                </a:solidFill>
              </a:rPr>
              <a:t>效果验证：</a:t>
            </a:r>
            <a:endParaRPr lang="en-US" sz="950" dirty="0"/>
          </a:p>
        </p:txBody>
      </p:sp>
      <p:sp>
        <p:nvSpPr>
          <p:cNvPr id="80" name="Text 76"/>
          <p:cNvSpPr/>
          <p:nvPr/>
        </p:nvSpPr>
        <p:spPr>
          <a:xfrm>
            <a:off x="6729984" y="3602736"/>
            <a:ext cx="1993392" cy="12070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• empty：AUC = 1.000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• setrel：AUC = 1.000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• functor：AUC = 0.992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（符号直接可分谓词完美识别）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A2342"/>
          </a:solidFill>
        </p:spPr>
      </p:sp>
      <p:sp>
        <p:nvSpPr>
          <p:cNvPr id="3" name="Shape 1"/>
          <p:cNvSpPr/>
          <p:nvPr/>
        </p:nvSpPr>
        <p:spPr>
          <a:xfrm>
            <a:off x="0" y="548640"/>
            <a:ext cx="9144000" cy="43891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4" name="Text 2"/>
          <p:cNvSpPr/>
          <p:nvPr/>
        </p:nvSpPr>
        <p:spPr>
          <a:xfrm>
            <a:off x="320040" y="64008"/>
            <a:ext cx="62179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  相较原论文的改进方案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583680" y="109728"/>
            <a:ext cx="24231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02C39A"/>
                </a:solidFill>
              </a:rPr>
              <a:t>五项针对性改进 · 解决真实数据集挑战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56032" y="658368"/>
            <a:ext cx="8631936" cy="420624"/>
          </a:xfrm>
          <a:prstGeom prst="rect">
            <a:avLst/>
          </a:prstGeom>
          <a:solidFill>
            <a:srgbClr val="0A2342"/>
          </a:solidFill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694944"/>
            <a:ext cx="833932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</a:rPr>
              <a:t>原论文局限：</a:t>
            </a:r>
            <a:r>
              <a:rPr lang="en-US" sz="1050" dirty="0">
                <a:solidFill>
                  <a:srgbClr val="FFFFFF"/>
                </a:solidFill>
              </a:rPr>
              <a:t>单谓词均衡示例，无法直接应用于「多谓词+极端不平衡+多规则」的真实场景 → 预测坍塌、NaN、F1=0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5905" y="1161415"/>
            <a:ext cx="7803515" cy="1664335"/>
          </a:xfrm>
          <a:prstGeom prst="rect">
            <a:avLst/>
          </a:prstGeom>
          <a:solidFill>
            <a:srgbClr val="FFFFFF"/>
          </a:solidFill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5905" y="1161415"/>
            <a:ext cx="7727950" cy="274320"/>
          </a:xfrm>
          <a:prstGeom prst="rect">
            <a:avLst/>
          </a:prstGeom>
          <a:solidFill>
            <a:srgbClr val="1D4ED8"/>
          </a:solidFill>
        </p:spPr>
      </p:sp>
      <p:sp>
        <p:nvSpPr>
          <p:cNvPr id="10" name="Text 8"/>
          <p:cNvSpPr/>
          <p:nvPr/>
        </p:nvSpPr>
        <p:spPr>
          <a:xfrm>
            <a:off x="310896" y="1197864"/>
            <a:ext cx="414223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改进①  混合损失函数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1150" y="1471930"/>
            <a:ext cx="2309495" cy="1298575"/>
          </a:xfrm>
          <a:prstGeom prst="rect">
            <a:avLst/>
          </a:prstGeom>
          <a:solidFill>
            <a:srgbClr val="FEF2F2"/>
          </a:solidFill>
        </p:spPr>
      </p:sp>
      <p:sp>
        <p:nvSpPr>
          <p:cNvPr id="12" name="Shape 10"/>
          <p:cNvSpPr/>
          <p:nvPr/>
        </p:nvSpPr>
        <p:spPr>
          <a:xfrm>
            <a:off x="311150" y="1471930"/>
            <a:ext cx="2287905" cy="182880"/>
          </a:xfrm>
          <a:prstGeom prst="rect">
            <a:avLst/>
          </a:prstGeom>
          <a:solidFill>
            <a:srgbClr val="C0392B"/>
          </a:solidFill>
        </p:spPr>
      </p:sp>
      <p:sp>
        <p:nvSpPr>
          <p:cNvPr id="13" name="Text 11"/>
          <p:cNvSpPr/>
          <p:nvPr/>
        </p:nvSpPr>
        <p:spPr>
          <a:xfrm>
            <a:off x="311150" y="1471930"/>
            <a:ext cx="1364615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原论文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47345" y="1673225"/>
            <a:ext cx="2251710" cy="10604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7F1D1D"/>
                </a:solidFill>
              </a:rPr>
              <a:t>模型发现一个</a:t>
            </a:r>
            <a:r>
              <a:rPr lang="en-US" altLang="zh-CN" sz="1000" dirty="0">
                <a:solidFill>
                  <a:srgbClr val="7F1D1D"/>
                </a:solidFill>
              </a:rPr>
              <a:t>"</a:t>
            </a:r>
            <a:r>
              <a:rPr lang="zh-CN" altLang="en-US" sz="1000" dirty="0">
                <a:solidFill>
                  <a:srgbClr val="7F1D1D"/>
                </a:solidFill>
              </a:rPr>
              <a:t>偷懒</a:t>
            </a:r>
            <a:r>
              <a:rPr lang="en-US" altLang="zh-CN" sz="1000" dirty="0">
                <a:solidFill>
                  <a:srgbClr val="7F1D1D"/>
                </a:solidFill>
              </a:rPr>
              <a:t>"</a:t>
            </a:r>
            <a:r>
              <a:rPr lang="zh-CN" altLang="en-US" sz="1000" dirty="0">
                <a:solidFill>
                  <a:srgbClr val="7F1D1D"/>
                </a:solidFill>
              </a:rPr>
              <a:t>策略：只要让所有谓词都输出</a:t>
            </a:r>
            <a:r>
              <a:rPr lang="en-US" altLang="zh-CN" sz="1000" dirty="0">
                <a:solidFill>
                  <a:srgbClr val="7F1D1D"/>
                </a:solidFill>
              </a:rPr>
              <a:t>0</a:t>
            </a:r>
            <a:r>
              <a:rPr lang="zh-CN" altLang="en-US" sz="1000" dirty="0">
                <a:solidFill>
                  <a:srgbClr val="7F1D1D"/>
                </a:solidFill>
              </a:rPr>
              <a:t>，那</a:t>
            </a:r>
            <a:r>
              <a:rPr lang="en-US" altLang="zh-CN" sz="1000" dirty="0">
                <a:solidFill>
                  <a:srgbClr val="7F1D1D"/>
                </a:solidFill>
              </a:rPr>
              <a:t>"</a:t>
            </a:r>
            <a:r>
              <a:rPr lang="zh-CN" altLang="en-US" sz="1000" dirty="0">
                <a:solidFill>
                  <a:srgbClr val="7F1D1D"/>
                </a:solidFill>
              </a:rPr>
              <a:t>如果</a:t>
            </a:r>
            <a:r>
              <a:rPr lang="en-US" altLang="zh-CN" sz="1000" dirty="0">
                <a:solidFill>
                  <a:srgbClr val="7F1D1D"/>
                </a:solidFill>
              </a:rPr>
              <a:t>A</a:t>
            </a:r>
            <a:r>
              <a:rPr lang="zh-CN" altLang="en-US" sz="1000" dirty="0">
                <a:solidFill>
                  <a:srgbClr val="7F1D1D"/>
                </a:solidFill>
              </a:rPr>
              <a:t>则</a:t>
            </a:r>
            <a:r>
              <a:rPr lang="en-US" altLang="zh-CN" sz="1000" dirty="0">
                <a:solidFill>
                  <a:srgbClr val="7F1D1D"/>
                </a:solidFill>
              </a:rPr>
              <a:t>B"</a:t>
            </a:r>
            <a:r>
              <a:rPr lang="zh-CN" altLang="en-US" sz="1000" dirty="0">
                <a:solidFill>
                  <a:srgbClr val="7F1D1D"/>
                </a:solidFill>
              </a:rPr>
              <a:t>中</a:t>
            </a:r>
            <a:r>
              <a:rPr lang="en-US" altLang="zh-CN" sz="1000" dirty="0">
                <a:solidFill>
                  <a:srgbClr val="7F1D1D"/>
                </a:solidFill>
              </a:rPr>
              <a:t>A=0</a:t>
            </a:r>
            <a:r>
              <a:rPr lang="zh-CN" altLang="en-US" sz="1000" dirty="0">
                <a:solidFill>
                  <a:srgbClr val="7F1D1D"/>
                </a:solidFill>
              </a:rPr>
              <a:t>，规则自动满足！</a:t>
            </a:r>
            <a:endParaRPr lang="zh-CN" altLang="en-US" sz="1000" dirty="0">
              <a:solidFill>
                <a:srgbClr val="7F1D1D"/>
              </a:solidFill>
            </a:endParaRPr>
          </a:p>
          <a:p>
            <a:pPr marL="0" indent="0">
              <a:buNone/>
            </a:pPr>
            <a:r>
              <a:rPr lang="zh-CN" altLang="en-US" sz="1000" dirty="0">
                <a:solidFill>
                  <a:srgbClr val="7F1D1D"/>
                </a:solidFill>
              </a:rPr>
              <a:t>结果：所有分类器永远预测</a:t>
            </a:r>
            <a:r>
              <a:rPr lang="en-US" altLang="zh-CN" sz="1000" dirty="0">
                <a:solidFill>
                  <a:srgbClr val="7F1D1D"/>
                </a:solidFill>
              </a:rPr>
              <a:t>"</a:t>
            </a:r>
            <a:r>
              <a:rPr lang="zh-CN" altLang="en-US" sz="1000" dirty="0">
                <a:solidFill>
                  <a:srgbClr val="7F1D1D"/>
                </a:solidFill>
              </a:rPr>
              <a:t>不是</a:t>
            </a:r>
            <a:r>
              <a:rPr lang="en-US" altLang="zh-CN" sz="1000" dirty="0">
                <a:solidFill>
                  <a:srgbClr val="7F1D1D"/>
                </a:solidFill>
              </a:rPr>
              <a:t>"</a:t>
            </a:r>
            <a:r>
              <a:rPr lang="zh-CN" altLang="en-US" sz="1000" dirty="0">
                <a:solidFill>
                  <a:srgbClr val="7F1D1D"/>
                </a:solidFill>
              </a:rPr>
              <a:t>，</a:t>
            </a:r>
            <a:r>
              <a:rPr lang="en-US" altLang="zh-CN" sz="1000" dirty="0">
                <a:solidFill>
                  <a:srgbClr val="7F1D1D"/>
                </a:solidFill>
              </a:rPr>
              <a:t>F1=0</a:t>
            </a:r>
            <a:r>
              <a:rPr lang="zh-CN" altLang="en-US" sz="1000" dirty="0">
                <a:solidFill>
                  <a:srgbClr val="7F1D1D"/>
                </a:solidFill>
              </a:rPr>
              <a:t>，完全没学到任何东西。</a:t>
            </a:r>
            <a:r>
              <a:rPr lang="en-US" sz="1000" dirty="0">
                <a:solidFill>
                  <a:srgbClr val="7F1D1D"/>
                </a:solidFill>
              </a:rPr>
              <a:t>所有谓词坍塌为0（Collapse）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632075" y="1471930"/>
            <a:ext cx="5366385" cy="1298575"/>
          </a:xfrm>
          <a:prstGeom prst="rect">
            <a:avLst/>
          </a:prstGeom>
          <a:solidFill>
            <a:schemeClr val="accent5"/>
          </a:solidFill>
        </p:spPr>
      </p:sp>
      <p:sp>
        <p:nvSpPr>
          <p:cNvPr id="16" name="Shape 14"/>
          <p:cNvSpPr/>
          <p:nvPr/>
        </p:nvSpPr>
        <p:spPr>
          <a:xfrm>
            <a:off x="2620645" y="1471930"/>
            <a:ext cx="5363210" cy="182880"/>
          </a:xfrm>
          <a:prstGeom prst="rect">
            <a:avLst/>
          </a:prstGeom>
          <a:solidFill>
            <a:srgbClr val="1D4ED8"/>
          </a:solidFill>
        </p:spPr>
      </p:sp>
      <p:sp>
        <p:nvSpPr>
          <p:cNvPr id="17" name="Text 15"/>
          <p:cNvSpPr/>
          <p:nvPr/>
        </p:nvSpPr>
        <p:spPr>
          <a:xfrm>
            <a:off x="2642870" y="1471930"/>
            <a:ext cx="5340985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本文改进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620421" y="1634617"/>
            <a:ext cx="2318736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1"/>
                </a:solidFill>
              </a:rPr>
              <a:t>混合损失（α=0.3）：</a:t>
            </a:r>
            <a:endParaRPr lang="en-US" sz="1000" b="1" dirty="0">
              <a:solidFill>
                <a:schemeClr val="bg1"/>
              </a:solidFill>
            </a:endParaRPr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2870" y="1845945"/>
            <a:ext cx="4084955" cy="278765"/>
          </a:xfrm>
          <a:prstGeom prst="rect">
            <a:avLst/>
          </a:prstGeom>
        </p:spPr>
      </p:pic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645" y="2111375"/>
            <a:ext cx="3435985" cy="26543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2620645" y="2446020"/>
            <a:ext cx="2635250" cy="28765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</a:rPr>
              <a:t>70%监督防坍塌</a:t>
            </a:r>
            <a:r>
              <a:rPr lang="zh-CN" altLang="en-US" sz="1000" dirty="0">
                <a:solidFill>
                  <a:schemeClr val="bg1"/>
                </a:solidFill>
              </a:rPr>
              <a:t>，</a:t>
            </a:r>
            <a:r>
              <a:rPr lang="en-US" sz="1000" dirty="0">
                <a:solidFill>
                  <a:schemeClr val="bg1"/>
                </a:solidFill>
              </a:rPr>
              <a:t>30%规则保约束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76" name="Shape 18"/>
          <p:cNvSpPr/>
          <p:nvPr/>
        </p:nvSpPr>
        <p:spPr>
          <a:xfrm>
            <a:off x="238125" y="3099435"/>
            <a:ext cx="7821930" cy="1664335"/>
          </a:xfrm>
          <a:prstGeom prst="rect">
            <a:avLst/>
          </a:prstGeom>
          <a:solidFill>
            <a:srgbClr val="FFFFFF"/>
          </a:solidFill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7" name="Shape 19"/>
          <p:cNvSpPr/>
          <p:nvPr/>
        </p:nvSpPr>
        <p:spPr>
          <a:xfrm>
            <a:off x="238125" y="3099435"/>
            <a:ext cx="7760335" cy="274320"/>
          </a:xfrm>
          <a:prstGeom prst="rect">
            <a:avLst/>
          </a:prstGeom>
          <a:solidFill>
            <a:srgbClr val="15803D"/>
          </a:solidFill>
        </p:spPr>
      </p:sp>
      <p:sp>
        <p:nvSpPr>
          <p:cNvPr id="78" name="Text 20"/>
          <p:cNvSpPr/>
          <p:nvPr/>
        </p:nvSpPr>
        <p:spPr>
          <a:xfrm>
            <a:off x="292735" y="3135630"/>
            <a:ext cx="4998085" cy="20129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改进②  加权 BCE 处理不平衡</a:t>
            </a:r>
            <a:endParaRPr lang="en-US" sz="1050" dirty="0"/>
          </a:p>
        </p:txBody>
      </p:sp>
      <p:sp>
        <p:nvSpPr>
          <p:cNvPr id="79" name="Shape 21"/>
          <p:cNvSpPr/>
          <p:nvPr/>
        </p:nvSpPr>
        <p:spPr>
          <a:xfrm>
            <a:off x="292862" y="3410204"/>
            <a:ext cx="1732056" cy="1298448"/>
          </a:xfrm>
          <a:prstGeom prst="rect">
            <a:avLst/>
          </a:prstGeom>
          <a:solidFill>
            <a:srgbClr val="FEF2F2"/>
          </a:solidFill>
        </p:spPr>
      </p:sp>
      <p:sp>
        <p:nvSpPr>
          <p:cNvPr id="80" name="Shape 22"/>
          <p:cNvSpPr/>
          <p:nvPr/>
        </p:nvSpPr>
        <p:spPr>
          <a:xfrm>
            <a:off x="292862" y="3410204"/>
            <a:ext cx="1732056" cy="182880"/>
          </a:xfrm>
          <a:prstGeom prst="rect">
            <a:avLst/>
          </a:prstGeom>
          <a:solidFill>
            <a:srgbClr val="C0392B"/>
          </a:solidFill>
        </p:spPr>
      </p:sp>
      <p:sp>
        <p:nvSpPr>
          <p:cNvPr id="81" name="Text 23"/>
          <p:cNvSpPr/>
          <p:nvPr/>
        </p:nvSpPr>
        <p:spPr>
          <a:xfrm>
            <a:off x="292862" y="3410204"/>
            <a:ext cx="1732056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原论文</a:t>
            </a:r>
            <a:endParaRPr lang="en-US" sz="850" dirty="0"/>
          </a:p>
        </p:txBody>
      </p:sp>
      <p:sp>
        <p:nvSpPr>
          <p:cNvPr id="82" name="Text 24"/>
          <p:cNvSpPr/>
          <p:nvPr/>
        </p:nvSpPr>
        <p:spPr>
          <a:xfrm>
            <a:off x="329565" y="3611245"/>
            <a:ext cx="1191895" cy="10604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1D1D"/>
                </a:solidFill>
              </a:rPr>
              <a:t>普通 BCE：commut 仅 7 正例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1D1D"/>
                </a:solidFill>
              </a:rPr>
              <a:t>被 906 负例梯度淹没→召回≈0</a:t>
            </a:r>
            <a:endParaRPr lang="en-US" sz="1000" dirty="0"/>
          </a:p>
        </p:txBody>
      </p:sp>
      <p:sp>
        <p:nvSpPr>
          <p:cNvPr id="83" name="Shape 25"/>
          <p:cNvSpPr/>
          <p:nvPr/>
        </p:nvSpPr>
        <p:spPr>
          <a:xfrm>
            <a:off x="1628775" y="3409950"/>
            <a:ext cx="6395085" cy="12985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</p:sp>
      <p:sp>
        <p:nvSpPr>
          <p:cNvPr id="84" name="Shape 26"/>
          <p:cNvSpPr/>
          <p:nvPr/>
        </p:nvSpPr>
        <p:spPr>
          <a:xfrm>
            <a:off x="1628775" y="3409950"/>
            <a:ext cx="6369685" cy="182880"/>
          </a:xfrm>
          <a:prstGeom prst="rect">
            <a:avLst/>
          </a:prstGeom>
          <a:solidFill>
            <a:srgbClr val="15803D"/>
          </a:solidFill>
        </p:spPr>
      </p:sp>
      <p:sp>
        <p:nvSpPr>
          <p:cNvPr id="85" name="Text 27"/>
          <p:cNvSpPr/>
          <p:nvPr/>
        </p:nvSpPr>
        <p:spPr>
          <a:xfrm>
            <a:off x="1629410" y="3409950"/>
            <a:ext cx="2806065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本文改进</a:t>
            </a:r>
            <a:endParaRPr lang="en-US" sz="850" dirty="0"/>
          </a:p>
        </p:txBody>
      </p:sp>
      <p:sp>
        <p:nvSpPr>
          <p:cNvPr id="86" name="Text 28"/>
          <p:cNvSpPr/>
          <p:nvPr/>
        </p:nvSpPr>
        <p:spPr>
          <a:xfrm>
            <a:off x="1704975" y="3693795"/>
            <a:ext cx="2531745" cy="20129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850" b="1" dirty="0">
                <a:solidFill>
                  <a:srgbClr val="14532D"/>
                </a:solidFill>
              </a:rPr>
              <a:t>给正例样本加权重，权重</a:t>
            </a:r>
            <a:r>
              <a:rPr lang="en-US" altLang="zh-CN" sz="850" b="1" dirty="0">
                <a:solidFill>
                  <a:srgbClr val="14532D"/>
                </a:solidFill>
              </a:rPr>
              <a:t> = min(</a:t>
            </a:r>
            <a:r>
              <a:rPr lang="zh-CN" altLang="en-US" sz="850" b="1" dirty="0">
                <a:solidFill>
                  <a:srgbClr val="14532D"/>
                </a:solidFill>
              </a:rPr>
              <a:t>负例数</a:t>
            </a:r>
            <a:r>
              <a:rPr lang="en-US" altLang="zh-CN" sz="850" b="1" dirty="0">
                <a:solidFill>
                  <a:srgbClr val="14532D"/>
                </a:solidFill>
              </a:rPr>
              <a:t>/</a:t>
            </a:r>
            <a:r>
              <a:rPr lang="zh-CN" altLang="en-US" sz="850" b="1" dirty="0">
                <a:solidFill>
                  <a:srgbClr val="14532D"/>
                </a:solidFill>
              </a:rPr>
              <a:t>正例数</a:t>
            </a:r>
            <a:r>
              <a:rPr lang="en-US" altLang="zh-CN" sz="850" b="1" dirty="0">
                <a:solidFill>
                  <a:srgbClr val="14532D"/>
                </a:solidFill>
              </a:rPr>
              <a:t>, 30)</a:t>
            </a:r>
            <a:r>
              <a:rPr lang="zh-CN" altLang="en-US" sz="850" b="1" dirty="0">
                <a:solidFill>
                  <a:srgbClr val="14532D"/>
                </a:solidFill>
              </a:rPr>
              <a:t>，让少数类的</a:t>
            </a:r>
            <a:r>
              <a:rPr lang="en-US" altLang="zh-CN" sz="850" b="1" dirty="0">
                <a:solidFill>
                  <a:srgbClr val="14532D"/>
                </a:solidFill>
              </a:rPr>
              <a:t>"</a:t>
            </a:r>
            <a:r>
              <a:rPr lang="zh-CN" altLang="en-US" sz="850" b="1" dirty="0">
                <a:solidFill>
                  <a:srgbClr val="14532D"/>
                </a:solidFill>
              </a:rPr>
              <a:t>声音</a:t>
            </a:r>
            <a:r>
              <a:rPr lang="en-US" altLang="zh-CN" sz="850" b="1" dirty="0">
                <a:solidFill>
                  <a:srgbClr val="14532D"/>
                </a:solidFill>
              </a:rPr>
              <a:t>"</a:t>
            </a:r>
            <a:r>
              <a:rPr lang="zh-CN" altLang="en-US" sz="850" b="1" dirty="0">
                <a:solidFill>
                  <a:srgbClr val="14532D"/>
                </a:solidFill>
              </a:rPr>
              <a:t>被放大。</a:t>
            </a:r>
            <a:r>
              <a:rPr lang="en-US" sz="850" b="1" dirty="0">
                <a:solidFill>
                  <a:srgbClr val="14532D"/>
                </a:solidFill>
              </a:rPr>
              <a:t>：</a:t>
            </a:r>
            <a:endParaRPr lang="en-US" sz="850" dirty="0"/>
          </a:p>
        </p:txBody>
      </p:sp>
      <p:pic>
        <p:nvPicPr>
          <p:cNvPr id="8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255" y="3576955"/>
            <a:ext cx="1600835" cy="439420"/>
          </a:xfrm>
          <a:prstGeom prst="rect">
            <a:avLst/>
          </a:prstGeom>
        </p:spPr>
      </p:pic>
      <p:pic>
        <p:nvPicPr>
          <p:cNvPr id="8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3190" y="3942715"/>
            <a:ext cx="4444365" cy="481965"/>
          </a:xfrm>
          <a:prstGeom prst="rect">
            <a:avLst/>
          </a:prstGeom>
        </p:spPr>
      </p:pic>
      <p:sp>
        <p:nvSpPr>
          <p:cNvPr id="89" name="Text 29"/>
          <p:cNvSpPr/>
          <p:nvPr/>
        </p:nvSpPr>
        <p:spPr>
          <a:xfrm>
            <a:off x="2893695" y="4385945"/>
            <a:ext cx="2681605" cy="30416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上限30防梯度爆炸 commut AUC=0.832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A2342"/>
          </a:solidFill>
        </p:spPr>
      </p:sp>
      <p:sp>
        <p:nvSpPr>
          <p:cNvPr id="3" name="Shape 1"/>
          <p:cNvSpPr/>
          <p:nvPr/>
        </p:nvSpPr>
        <p:spPr>
          <a:xfrm>
            <a:off x="0" y="548640"/>
            <a:ext cx="9144000" cy="43891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4" name="Text 2"/>
          <p:cNvSpPr/>
          <p:nvPr/>
        </p:nvSpPr>
        <p:spPr>
          <a:xfrm>
            <a:off x="320040" y="64008"/>
            <a:ext cx="62179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  相较原论文的改进方案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583680" y="109728"/>
            <a:ext cx="24231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02C39A"/>
                </a:solidFill>
              </a:rPr>
              <a:t>五项针对性改进 · 解决真实数据集挑战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56032" y="658368"/>
            <a:ext cx="8631936" cy="420624"/>
          </a:xfrm>
          <a:prstGeom prst="rect">
            <a:avLst/>
          </a:prstGeom>
          <a:solidFill>
            <a:srgbClr val="0A2342"/>
          </a:solidFill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694944"/>
            <a:ext cx="833932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</a:rPr>
              <a:t>原论文局限：</a:t>
            </a:r>
            <a:r>
              <a:rPr lang="en-US" sz="1050" dirty="0">
                <a:solidFill>
                  <a:srgbClr val="FFFFFF"/>
                </a:solidFill>
              </a:rPr>
              <a:t>单谓词均衡示例，无法直接应用于「多谓词+极端不平衡+多规则」的真实场景 → 预测坍塌、NaN、F1=0</a:t>
            </a:r>
            <a:endParaRPr lang="en-US" sz="1050" dirty="0"/>
          </a:p>
        </p:txBody>
      </p:sp>
      <p:sp>
        <p:nvSpPr>
          <p:cNvPr id="36" name="Shape 30"/>
          <p:cNvSpPr/>
          <p:nvPr/>
        </p:nvSpPr>
        <p:spPr>
          <a:xfrm>
            <a:off x="255905" y="1078865"/>
            <a:ext cx="8632190" cy="2121535"/>
          </a:xfrm>
          <a:prstGeom prst="rect">
            <a:avLst/>
          </a:prstGeom>
          <a:solidFill>
            <a:srgbClr val="FFFFFF"/>
          </a:solidFill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255905" y="1078865"/>
            <a:ext cx="8632190" cy="274320"/>
          </a:xfrm>
          <a:prstGeom prst="rect">
            <a:avLst/>
          </a:prstGeom>
          <a:solidFill>
            <a:srgbClr val="6D28D9"/>
          </a:solidFill>
        </p:spPr>
      </p:sp>
      <p:sp>
        <p:nvSpPr>
          <p:cNvPr id="38" name="Text 32"/>
          <p:cNvSpPr/>
          <p:nvPr/>
        </p:nvSpPr>
        <p:spPr>
          <a:xfrm>
            <a:off x="311150" y="1115695"/>
            <a:ext cx="8286115" cy="20129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改进③  独立谓词网络+规则知识库</a:t>
            </a:r>
            <a:endParaRPr lang="en-US" sz="1050" dirty="0"/>
          </a:p>
        </p:txBody>
      </p:sp>
      <p:sp>
        <p:nvSpPr>
          <p:cNvPr id="39" name="Shape 33"/>
          <p:cNvSpPr/>
          <p:nvPr/>
        </p:nvSpPr>
        <p:spPr>
          <a:xfrm>
            <a:off x="311150" y="1390015"/>
            <a:ext cx="1691640" cy="1755775"/>
          </a:xfrm>
          <a:prstGeom prst="rect">
            <a:avLst/>
          </a:prstGeom>
          <a:solidFill>
            <a:srgbClr val="FEF2F2"/>
          </a:solidFill>
        </p:spPr>
      </p:sp>
      <p:sp>
        <p:nvSpPr>
          <p:cNvPr id="40" name="Shape 34"/>
          <p:cNvSpPr/>
          <p:nvPr/>
        </p:nvSpPr>
        <p:spPr>
          <a:xfrm>
            <a:off x="311150" y="1390015"/>
            <a:ext cx="3456305" cy="182880"/>
          </a:xfrm>
          <a:prstGeom prst="rect">
            <a:avLst/>
          </a:prstGeom>
          <a:solidFill>
            <a:srgbClr val="C0392B"/>
          </a:solidFill>
        </p:spPr>
      </p:sp>
      <p:sp>
        <p:nvSpPr>
          <p:cNvPr id="41" name="Text 35"/>
          <p:cNvSpPr/>
          <p:nvPr/>
        </p:nvSpPr>
        <p:spPr>
          <a:xfrm>
            <a:off x="311150" y="1390015"/>
            <a:ext cx="1685925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原论文</a:t>
            </a:r>
            <a:endParaRPr lang="en-US" sz="850" dirty="0"/>
          </a:p>
        </p:txBody>
      </p:sp>
      <p:sp>
        <p:nvSpPr>
          <p:cNvPr id="42" name="Text 36"/>
          <p:cNvSpPr/>
          <p:nvPr/>
        </p:nvSpPr>
        <p:spPr>
          <a:xfrm>
            <a:off x="347345" y="1591310"/>
            <a:ext cx="1682115" cy="15176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1D1D"/>
                </a:solidFill>
              </a:rPr>
              <a:t>原论文1个谓词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1D1D"/>
                </a:solidFill>
              </a:rPr>
              <a:t>本实验需7个谓词联合预测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1D1D"/>
                </a:solidFill>
              </a:rPr>
              <a:t>共享网络梯度相互干扰</a:t>
            </a:r>
            <a:endParaRPr lang="en-US" sz="1000" dirty="0"/>
          </a:p>
        </p:txBody>
      </p:sp>
      <p:sp>
        <p:nvSpPr>
          <p:cNvPr id="43" name="Shape 37"/>
          <p:cNvSpPr/>
          <p:nvPr/>
        </p:nvSpPr>
        <p:spPr>
          <a:xfrm>
            <a:off x="2042160" y="1390015"/>
            <a:ext cx="4836795" cy="1755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</p:sp>
      <p:sp>
        <p:nvSpPr>
          <p:cNvPr id="44" name="Shape 38"/>
          <p:cNvSpPr/>
          <p:nvPr/>
        </p:nvSpPr>
        <p:spPr>
          <a:xfrm>
            <a:off x="2042160" y="1390015"/>
            <a:ext cx="4837430" cy="182880"/>
          </a:xfrm>
          <a:prstGeom prst="rect">
            <a:avLst/>
          </a:prstGeom>
          <a:solidFill>
            <a:srgbClr val="6D28D9"/>
          </a:solidFill>
        </p:spPr>
      </p:sp>
      <p:sp>
        <p:nvSpPr>
          <p:cNvPr id="45" name="Text 39"/>
          <p:cNvSpPr/>
          <p:nvPr/>
        </p:nvSpPr>
        <p:spPr>
          <a:xfrm>
            <a:off x="1768475" y="1390015"/>
            <a:ext cx="44323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本文改进</a:t>
            </a:r>
            <a:endParaRPr lang="en-US" sz="850" dirty="0"/>
          </a:p>
        </p:txBody>
      </p:sp>
      <p:sp>
        <p:nvSpPr>
          <p:cNvPr id="46" name="Text 40"/>
          <p:cNvSpPr/>
          <p:nvPr/>
        </p:nvSpPr>
        <p:spPr>
          <a:xfrm>
            <a:off x="2042160" y="1591310"/>
            <a:ext cx="4541520" cy="20129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532D"/>
                </a:solidFill>
              </a:rPr>
              <a:t>7个独立MLP + 5条规则：</a:t>
            </a:r>
            <a:endParaRPr lang="en-US" sz="1200" dirty="0"/>
          </a:p>
        </p:txBody>
      </p:sp>
      <p:pic>
        <p:nvPicPr>
          <p:cNvPr id="47" name="Image 4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3315" y="1950720"/>
            <a:ext cx="4446270" cy="272415"/>
          </a:xfrm>
          <a:prstGeom prst="rect">
            <a:avLst/>
          </a:prstGeom>
        </p:spPr>
      </p:pic>
      <p:sp>
        <p:nvSpPr>
          <p:cNvPr id="48" name="Text 41"/>
          <p:cNvSpPr/>
          <p:nvPr/>
        </p:nvSpPr>
        <p:spPr>
          <a:xfrm>
            <a:off x="2264410" y="2157730"/>
            <a:ext cx="4541520" cy="9512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532D"/>
                </a:solidFill>
              </a:rPr>
              <a:t>LayerNorm+GELU   Dropout防过拟合       safe(ε=1e-7)稳定</a:t>
            </a:r>
            <a:endParaRPr lang="en-US" sz="1200" dirty="0"/>
          </a:p>
        </p:txBody>
      </p:sp>
      <p:sp>
        <p:nvSpPr>
          <p:cNvPr id="49" name="Shape 42"/>
          <p:cNvSpPr/>
          <p:nvPr/>
        </p:nvSpPr>
        <p:spPr>
          <a:xfrm>
            <a:off x="256540" y="2999105"/>
            <a:ext cx="8644255" cy="2121535"/>
          </a:xfrm>
          <a:prstGeom prst="rect">
            <a:avLst/>
          </a:prstGeom>
          <a:solidFill>
            <a:srgbClr val="FFFFFF"/>
          </a:solidFill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0" name="Shape 43"/>
          <p:cNvSpPr/>
          <p:nvPr/>
        </p:nvSpPr>
        <p:spPr>
          <a:xfrm>
            <a:off x="255905" y="2962275"/>
            <a:ext cx="8634730" cy="27432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51" name="Text 44"/>
          <p:cNvSpPr/>
          <p:nvPr/>
        </p:nvSpPr>
        <p:spPr>
          <a:xfrm>
            <a:off x="418465" y="2999105"/>
            <a:ext cx="8288655" cy="20129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改进④  数值稳定四重保障</a:t>
            </a:r>
            <a:endParaRPr lang="en-US" sz="1050" dirty="0"/>
          </a:p>
        </p:txBody>
      </p:sp>
      <p:sp>
        <p:nvSpPr>
          <p:cNvPr id="52" name="Shape 45"/>
          <p:cNvSpPr/>
          <p:nvPr/>
        </p:nvSpPr>
        <p:spPr>
          <a:xfrm>
            <a:off x="255905" y="3347085"/>
            <a:ext cx="2349500" cy="1755775"/>
          </a:xfrm>
          <a:prstGeom prst="rect">
            <a:avLst/>
          </a:prstGeom>
          <a:solidFill>
            <a:srgbClr val="FEF2F2"/>
          </a:solidFill>
        </p:spPr>
      </p:sp>
      <p:sp>
        <p:nvSpPr>
          <p:cNvPr id="53" name="Shape 46"/>
          <p:cNvSpPr/>
          <p:nvPr/>
        </p:nvSpPr>
        <p:spPr>
          <a:xfrm>
            <a:off x="255905" y="3312160"/>
            <a:ext cx="2349500" cy="182880"/>
          </a:xfrm>
          <a:prstGeom prst="rect">
            <a:avLst/>
          </a:prstGeom>
          <a:solidFill>
            <a:srgbClr val="C0392B"/>
          </a:solidFill>
        </p:spPr>
      </p:sp>
      <p:sp>
        <p:nvSpPr>
          <p:cNvPr id="54" name="Text 47"/>
          <p:cNvSpPr/>
          <p:nvPr/>
        </p:nvSpPr>
        <p:spPr>
          <a:xfrm>
            <a:off x="226695" y="3312160"/>
            <a:ext cx="2383155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原论文</a:t>
            </a:r>
            <a:endParaRPr lang="en-US" sz="850" dirty="0"/>
          </a:p>
        </p:txBody>
      </p:sp>
      <p:sp>
        <p:nvSpPr>
          <p:cNvPr id="55" name="Text 48"/>
          <p:cNvSpPr/>
          <p:nvPr/>
        </p:nvSpPr>
        <p:spPr>
          <a:xfrm>
            <a:off x="320040" y="3456940"/>
            <a:ext cx="3227705" cy="15176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F1D1D"/>
                </a:solidFill>
              </a:rPr>
              <a:t>pMean u→0时梯度→∞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F1D1D"/>
                </a:solidFill>
              </a:rPr>
              <a:t>BatchNorm方差=0→NaN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F1D1D"/>
                </a:solidFill>
              </a:rPr>
              <a:t>全程NaN模型失效</a:t>
            </a:r>
            <a:endParaRPr lang="en-US" sz="1400" dirty="0"/>
          </a:p>
        </p:txBody>
      </p:sp>
      <p:sp>
        <p:nvSpPr>
          <p:cNvPr id="56" name="Shape 49"/>
          <p:cNvSpPr/>
          <p:nvPr/>
        </p:nvSpPr>
        <p:spPr>
          <a:xfrm>
            <a:off x="2605405" y="3347085"/>
            <a:ext cx="6233160" cy="1755775"/>
          </a:xfrm>
          <a:prstGeom prst="rect">
            <a:avLst/>
          </a:prstGeom>
          <a:solidFill>
            <a:srgbClr val="F0FDF4"/>
          </a:solidFill>
        </p:spPr>
      </p:sp>
      <p:sp>
        <p:nvSpPr>
          <p:cNvPr id="57" name="Shape 50"/>
          <p:cNvSpPr/>
          <p:nvPr/>
        </p:nvSpPr>
        <p:spPr>
          <a:xfrm>
            <a:off x="2609850" y="3310255"/>
            <a:ext cx="6273165" cy="18288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58" name="Text 51"/>
          <p:cNvSpPr/>
          <p:nvPr/>
        </p:nvSpPr>
        <p:spPr>
          <a:xfrm>
            <a:off x="2623185" y="3309620"/>
            <a:ext cx="5742305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本文改进</a:t>
            </a:r>
            <a:endParaRPr lang="en-US" sz="850" dirty="0"/>
          </a:p>
        </p:txBody>
      </p:sp>
      <p:sp>
        <p:nvSpPr>
          <p:cNvPr id="59" name="Text 52"/>
          <p:cNvSpPr/>
          <p:nvPr/>
        </p:nvSpPr>
        <p:spPr>
          <a:xfrm>
            <a:off x="2680335" y="3547745"/>
            <a:ext cx="5721985" cy="20129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000" dirty="0"/>
              <a:t>把所有中间计算值限制在</a:t>
            </a:r>
            <a:r>
              <a:rPr lang="en-US" altLang="zh-CN" sz="1000" dirty="0"/>
              <a:t> (0.0000001, 0.9999999) </a:t>
            </a:r>
            <a:r>
              <a:rPr lang="zh-CN" altLang="en-US" sz="1000" dirty="0"/>
              <a:t>范围内，防止出现</a:t>
            </a:r>
            <a:r>
              <a:rPr lang="en-US" altLang="zh-CN" sz="1000" dirty="0"/>
              <a:t> 0 </a:t>
            </a:r>
            <a:r>
              <a:rPr lang="zh-CN" altLang="en-US" sz="1000" dirty="0"/>
              <a:t>和</a:t>
            </a:r>
            <a:r>
              <a:rPr lang="en-US" altLang="zh-CN" sz="1000" dirty="0"/>
              <a:t> 1 </a:t>
            </a:r>
            <a:r>
              <a:rPr lang="zh-CN" altLang="en-US" sz="1000" dirty="0"/>
              <a:t>导致梯度爆炸变</a:t>
            </a:r>
            <a:r>
              <a:rPr lang="en-US" altLang="zh-CN" sz="1000" dirty="0"/>
              <a:t>NaN</a:t>
            </a:r>
            <a:r>
              <a:rPr lang="zh-CN" altLang="en-US" sz="1000" dirty="0"/>
              <a:t>。</a:t>
            </a:r>
            <a:endParaRPr lang="zh-CN" altLang="en-US" sz="1000" dirty="0"/>
          </a:p>
        </p:txBody>
      </p:sp>
      <p:pic>
        <p:nvPicPr>
          <p:cNvPr id="60" name="Image 5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0352" y="3693922"/>
            <a:ext cx="3875227" cy="310896"/>
          </a:xfrm>
          <a:prstGeom prst="rect">
            <a:avLst/>
          </a:prstGeom>
        </p:spPr>
      </p:pic>
      <p:pic>
        <p:nvPicPr>
          <p:cNvPr id="61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7572" y="4097147"/>
            <a:ext cx="1713586" cy="329184"/>
          </a:xfrm>
          <a:prstGeom prst="rect">
            <a:avLst/>
          </a:prstGeom>
        </p:spPr>
      </p:pic>
      <p:sp>
        <p:nvSpPr>
          <p:cNvPr id="62" name="Text 53"/>
          <p:cNvSpPr/>
          <p:nvPr/>
        </p:nvSpPr>
        <p:spPr>
          <a:xfrm>
            <a:off x="3061970" y="4462145"/>
            <a:ext cx="4542790" cy="56705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532D"/>
                </a:solidFill>
              </a:rPr>
              <a:t>+ 梯度裁剪 norm=1   +    NaN检测跳批    全程零NaN</a:t>
            </a:r>
            <a:r>
              <a:rPr lang="en-US" sz="800" dirty="0">
                <a:solidFill>
                  <a:srgbClr val="14532D"/>
                </a:solidFill>
              </a:rPr>
              <a:t> 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A2342"/>
          </a:solidFill>
        </p:spPr>
      </p:sp>
      <p:sp>
        <p:nvSpPr>
          <p:cNvPr id="3" name="Shape 1"/>
          <p:cNvSpPr/>
          <p:nvPr/>
        </p:nvSpPr>
        <p:spPr>
          <a:xfrm>
            <a:off x="0" y="548640"/>
            <a:ext cx="9144000" cy="43891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4" name="Text 2"/>
          <p:cNvSpPr/>
          <p:nvPr/>
        </p:nvSpPr>
        <p:spPr>
          <a:xfrm>
            <a:off x="320040" y="64008"/>
            <a:ext cx="62179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  相较原论文的改进方案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583680" y="109728"/>
            <a:ext cx="24231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02C39A"/>
                </a:solidFill>
              </a:rPr>
              <a:t>五项针对性改进 · 解决真实数据集挑战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56032" y="658368"/>
            <a:ext cx="8631936" cy="420624"/>
          </a:xfrm>
          <a:prstGeom prst="rect">
            <a:avLst/>
          </a:prstGeom>
          <a:solidFill>
            <a:srgbClr val="0A2342"/>
          </a:solidFill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694944"/>
            <a:ext cx="833932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</a:rPr>
              <a:t>原论文局限：</a:t>
            </a:r>
            <a:r>
              <a:rPr lang="en-US" sz="1050" dirty="0">
                <a:solidFill>
                  <a:srgbClr val="FFFFFF"/>
                </a:solidFill>
              </a:rPr>
              <a:t>单谓词均衡示例，无法直接应用于「多谓词+极端不平衡+多规则」的真实场景 → 预测坍塌、NaN、F1=0</a:t>
            </a:r>
            <a:endParaRPr lang="en-US" sz="1050" dirty="0"/>
          </a:p>
        </p:txBody>
      </p:sp>
      <p:pic>
        <p:nvPicPr>
          <p:cNvPr id="47" name="Image 4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05562" y="-544068"/>
            <a:ext cx="5082235" cy="310896"/>
          </a:xfrm>
          <a:prstGeom prst="rect">
            <a:avLst/>
          </a:prstGeom>
        </p:spPr>
      </p:pic>
      <p:sp>
        <p:nvSpPr>
          <p:cNvPr id="63" name="Shape 54"/>
          <p:cNvSpPr/>
          <p:nvPr/>
        </p:nvSpPr>
        <p:spPr>
          <a:xfrm>
            <a:off x="448945" y="1280160"/>
            <a:ext cx="8395970" cy="2121535"/>
          </a:xfrm>
          <a:prstGeom prst="rect">
            <a:avLst/>
          </a:prstGeom>
          <a:solidFill>
            <a:srgbClr val="FFFFFF"/>
          </a:solidFill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4" name="Shape 55"/>
          <p:cNvSpPr/>
          <p:nvPr/>
        </p:nvSpPr>
        <p:spPr>
          <a:xfrm>
            <a:off x="448945" y="1280160"/>
            <a:ext cx="8395970" cy="274320"/>
          </a:xfrm>
          <a:prstGeom prst="rect">
            <a:avLst/>
          </a:prstGeom>
          <a:solidFill>
            <a:srgbClr val="C0392B"/>
          </a:solidFill>
        </p:spPr>
      </p:sp>
      <p:sp>
        <p:nvSpPr>
          <p:cNvPr id="65" name="Text 56"/>
          <p:cNvSpPr/>
          <p:nvPr/>
        </p:nvSpPr>
        <p:spPr>
          <a:xfrm>
            <a:off x="504190" y="1316990"/>
            <a:ext cx="8063865" cy="20129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改进⑤  Youden 动态阈值</a:t>
            </a:r>
            <a:endParaRPr lang="en-US" sz="1050" dirty="0"/>
          </a:p>
        </p:txBody>
      </p:sp>
      <p:sp>
        <p:nvSpPr>
          <p:cNvPr id="66" name="Shape 57"/>
          <p:cNvSpPr/>
          <p:nvPr/>
        </p:nvSpPr>
        <p:spPr>
          <a:xfrm>
            <a:off x="504190" y="1591310"/>
            <a:ext cx="3363595" cy="1755775"/>
          </a:xfrm>
          <a:prstGeom prst="rect">
            <a:avLst/>
          </a:prstGeom>
          <a:solidFill>
            <a:srgbClr val="FEF2F2"/>
          </a:solidFill>
        </p:spPr>
      </p:sp>
      <p:sp>
        <p:nvSpPr>
          <p:cNvPr id="67" name="Shape 58"/>
          <p:cNvSpPr/>
          <p:nvPr/>
        </p:nvSpPr>
        <p:spPr>
          <a:xfrm>
            <a:off x="504190" y="1591310"/>
            <a:ext cx="3363595" cy="182880"/>
          </a:xfrm>
          <a:prstGeom prst="rect">
            <a:avLst/>
          </a:prstGeom>
          <a:solidFill>
            <a:srgbClr val="C0392B"/>
          </a:solidFill>
        </p:spPr>
      </p:sp>
      <p:sp>
        <p:nvSpPr>
          <p:cNvPr id="68" name="Text 59"/>
          <p:cNvSpPr/>
          <p:nvPr/>
        </p:nvSpPr>
        <p:spPr>
          <a:xfrm>
            <a:off x="504190" y="1591310"/>
            <a:ext cx="220091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原论文</a:t>
            </a:r>
            <a:endParaRPr lang="en-US" sz="850" dirty="0"/>
          </a:p>
        </p:txBody>
      </p:sp>
      <p:sp>
        <p:nvSpPr>
          <p:cNvPr id="69" name="Text 60"/>
          <p:cNvSpPr/>
          <p:nvPr/>
        </p:nvSpPr>
        <p:spPr>
          <a:xfrm>
            <a:off x="540385" y="1792605"/>
            <a:ext cx="3142615" cy="15176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F1D1D"/>
                </a:solidFill>
              </a:rPr>
              <a:t>固定0.5阈值：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F1D1D"/>
                </a:solidFill>
              </a:rPr>
              <a:t>commut正例率0.5%→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F1D1D"/>
                </a:solidFill>
              </a:rPr>
              <a:t>无法预测任何正例</a:t>
            </a:r>
            <a:endParaRPr lang="en-US" sz="1400" dirty="0"/>
          </a:p>
        </p:txBody>
      </p:sp>
      <p:sp>
        <p:nvSpPr>
          <p:cNvPr id="70" name="Shape 61"/>
          <p:cNvSpPr/>
          <p:nvPr/>
        </p:nvSpPr>
        <p:spPr>
          <a:xfrm>
            <a:off x="2707005" y="1591310"/>
            <a:ext cx="6142355" cy="1755775"/>
          </a:xfrm>
          <a:prstGeom prst="rect">
            <a:avLst/>
          </a:prstGeom>
          <a:solidFill>
            <a:srgbClr val="F0FDF4"/>
          </a:solidFill>
        </p:spPr>
      </p:sp>
      <p:sp>
        <p:nvSpPr>
          <p:cNvPr id="71" name="Shape 62"/>
          <p:cNvSpPr/>
          <p:nvPr/>
        </p:nvSpPr>
        <p:spPr>
          <a:xfrm>
            <a:off x="2700655" y="1582420"/>
            <a:ext cx="6128385" cy="182880"/>
          </a:xfrm>
          <a:prstGeom prst="rect">
            <a:avLst/>
          </a:prstGeom>
          <a:solidFill>
            <a:srgbClr val="C0392B"/>
          </a:solidFill>
        </p:spPr>
      </p:sp>
      <p:sp>
        <p:nvSpPr>
          <p:cNvPr id="72" name="Text 63"/>
          <p:cNvSpPr/>
          <p:nvPr/>
        </p:nvSpPr>
        <p:spPr>
          <a:xfrm>
            <a:off x="2701925" y="1572260"/>
            <a:ext cx="6116955" cy="2019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本文改进</a:t>
            </a:r>
            <a:endParaRPr lang="en-US" sz="850" dirty="0"/>
          </a:p>
        </p:txBody>
      </p:sp>
      <p:sp>
        <p:nvSpPr>
          <p:cNvPr id="73" name="Text 64"/>
          <p:cNvSpPr/>
          <p:nvPr/>
        </p:nvSpPr>
        <p:spPr>
          <a:xfrm>
            <a:off x="3034665" y="1887220"/>
            <a:ext cx="4424045" cy="20129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14532D"/>
                </a:solidFill>
              </a:rPr>
              <a:t>对每个谓词独立找</a:t>
            </a:r>
            <a:r>
              <a:rPr lang="en-US" altLang="zh-CN" sz="1200" b="1" dirty="0">
                <a:solidFill>
                  <a:srgbClr val="14532D"/>
                </a:solidFill>
              </a:rPr>
              <a:t>"</a:t>
            </a:r>
            <a:r>
              <a:rPr lang="zh-CN" altLang="en-US" sz="1200" b="1" dirty="0">
                <a:solidFill>
                  <a:srgbClr val="14532D"/>
                </a:solidFill>
              </a:rPr>
              <a:t>让正确率和召回率最优平衡</a:t>
            </a:r>
            <a:r>
              <a:rPr lang="en-US" altLang="zh-CN" sz="1200" b="1" dirty="0">
                <a:solidFill>
                  <a:srgbClr val="14532D"/>
                </a:solidFill>
              </a:rPr>
              <a:t>"</a:t>
            </a:r>
            <a:r>
              <a:rPr lang="zh-CN" altLang="en-US" sz="1200" b="1" dirty="0">
                <a:solidFill>
                  <a:srgbClr val="14532D"/>
                </a:solidFill>
              </a:rPr>
              <a:t>的阈值（</a:t>
            </a:r>
            <a:r>
              <a:rPr lang="en-US" altLang="zh-CN" sz="1200" b="1" dirty="0">
                <a:solidFill>
                  <a:srgbClr val="14532D"/>
                </a:solidFill>
              </a:rPr>
              <a:t>ROC</a:t>
            </a:r>
            <a:r>
              <a:rPr lang="zh-CN" altLang="en-US" sz="1200" b="1" dirty="0">
                <a:solidFill>
                  <a:srgbClr val="14532D"/>
                </a:solidFill>
              </a:rPr>
              <a:t>曲线上</a:t>
            </a:r>
            <a:r>
              <a:rPr lang="en-US" altLang="zh-CN" sz="1200" b="1" dirty="0">
                <a:solidFill>
                  <a:srgbClr val="14532D"/>
                </a:solidFill>
              </a:rPr>
              <a:t>Youden</a:t>
            </a:r>
            <a:r>
              <a:rPr lang="zh-CN" altLang="en-US" sz="1200" b="1" dirty="0">
                <a:solidFill>
                  <a:srgbClr val="14532D"/>
                </a:solidFill>
              </a:rPr>
              <a:t>指数最大点）。</a:t>
            </a:r>
            <a:r>
              <a:rPr lang="en-US" sz="1200" b="1" dirty="0">
                <a:solidFill>
                  <a:srgbClr val="14532D"/>
                </a:solidFill>
              </a:rPr>
              <a:t>ROC最优阈值：</a:t>
            </a:r>
            <a:endParaRPr lang="en-US" sz="1200" dirty="0"/>
          </a:p>
        </p:txBody>
      </p:sp>
      <p:pic>
        <p:nvPicPr>
          <p:cNvPr id="74" name="Image 7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9884" y="2250567"/>
            <a:ext cx="3263494" cy="329184"/>
          </a:xfrm>
          <a:prstGeom prst="rect">
            <a:avLst/>
          </a:prstGeom>
        </p:spPr>
      </p:pic>
      <p:sp>
        <p:nvSpPr>
          <p:cNvPr id="75" name="Text 65"/>
          <p:cNvSpPr/>
          <p:nvPr/>
        </p:nvSpPr>
        <p:spPr>
          <a:xfrm>
            <a:off x="3169920" y="2623185"/>
            <a:ext cx="5118100" cy="5861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532D"/>
                </a:solidFill>
              </a:rPr>
              <a:t>AUC衡量排序能力    commut AUC=0.832    公平反映模型能力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A2342"/>
          </a:solidFill>
        </p:spPr>
      </p:sp>
      <p:sp>
        <p:nvSpPr>
          <p:cNvPr id="3" name="Shape 1"/>
          <p:cNvSpPr/>
          <p:nvPr/>
        </p:nvSpPr>
        <p:spPr>
          <a:xfrm>
            <a:off x="0" y="548640"/>
            <a:ext cx="9144000" cy="43891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4" name="Text 2"/>
          <p:cNvSpPr/>
          <p:nvPr/>
        </p:nvSpPr>
        <p:spPr>
          <a:xfrm>
            <a:off x="320040" y="64008"/>
            <a:ext cx="62179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04  主要计算方法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583680" y="109728"/>
            <a:ext cx="24231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02C39A"/>
                </a:solidFill>
              </a:rPr>
              <a:t>LTN Grounding 完整流程 · 以规则 R₁ 为例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56032" y="658368"/>
            <a:ext cx="4892040" cy="4315968"/>
          </a:xfrm>
          <a:prstGeom prst="rect">
            <a:avLst/>
          </a:prstGeom>
          <a:solidFill>
            <a:srgbClr val="FFFFFF"/>
          </a:solidFill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658368"/>
            <a:ext cx="4892040" cy="310896"/>
          </a:xfrm>
          <a:prstGeom prst="rect">
            <a:avLst/>
          </a:prstGeom>
          <a:solidFill>
            <a:srgbClr val="0A2342"/>
          </a:solidFill>
        </p:spPr>
      </p:sp>
      <p:sp>
        <p:nvSpPr>
          <p:cNvPr id="8" name="Text 6"/>
          <p:cNvSpPr/>
          <p:nvPr/>
        </p:nvSpPr>
        <p:spPr>
          <a:xfrm>
            <a:off x="329184" y="658368"/>
            <a:ext cx="4745736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规则 R₁ 完整计算流程（批次大小128）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7472" y="1042416"/>
            <a:ext cx="4709160" cy="457200"/>
          </a:xfrm>
          <a:prstGeom prst="rect">
            <a:avLst/>
          </a:prstGeom>
          <a:solidFill>
            <a:srgbClr val="EBF4FA"/>
          </a:solidFill>
        </p:spPr>
      </p:sp>
      <p:sp>
        <p:nvSpPr>
          <p:cNvPr id="10" name="Shape 8"/>
          <p:cNvSpPr/>
          <p:nvPr/>
        </p:nvSpPr>
        <p:spPr>
          <a:xfrm>
            <a:off x="347472" y="1042416"/>
            <a:ext cx="566928" cy="457200"/>
          </a:xfrm>
          <a:prstGeom prst="rect">
            <a:avLst/>
          </a:prstGeom>
          <a:solidFill>
            <a:srgbClr val="0A2342"/>
          </a:solidFill>
        </p:spPr>
      </p:sp>
      <p:sp>
        <p:nvSpPr>
          <p:cNvPr id="11" name="Text 9"/>
          <p:cNvSpPr/>
          <p:nvPr/>
        </p:nvSpPr>
        <p:spPr>
          <a:xfrm>
            <a:off x="347472" y="1042416"/>
            <a:ext cx="56692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Step 1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69264" y="1078992"/>
            <a:ext cx="400507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变量 Grounding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69264" y="1280160"/>
            <a:ext cx="400507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G(x)=X_batch∈ℝ^{128×300}  批次特征张量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7472" y="1554480"/>
            <a:ext cx="4709160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5" name="Shape 13"/>
          <p:cNvSpPr/>
          <p:nvPr/>
        </p:nvSpPr>
        <p:spPr>
          <a:xfrm>
            <a:off x="347472" y="1554480"/>
            <a:ext cx="566928" cy="45720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16" name="Text 14"/>
          <p:cNvSpPr/>
          <p:nvPr/>
        </p:nvSpPr>
        <p:spPr>
          <a:xfrm>
            <a:off x="347472" y="1554480"/>
            <a:ext cx="56692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Step 2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69264" y="1591056"/>
            <a:ext cx="400507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谓词 Grounding（两次前向）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69264" y="1792224"/>
            <a:ext cx="400507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G(Empty|θ)(x) ∈ (ε,1−ε)^128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G(Theorem|θ)(x) ∈ (ε,1−ε)^128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47472" y="2066544"/>
            <a:ext cx="4709160" cy="457200"/>
          </a:xfrm>
          <a:prstGeom prst="rect">
            <a:avLst/>
          </a:prstGeom>
          <a:solidFill>
            <a:srgbClr val="EBF4FA"/>
          </a:solidFill>
        </p:spPr>
      </p:sp>
      <p:sp>
        <p:nvSpPr>
          <p:cNvPr id="20" name="Shape 18"/>
          <p:cNvSpPr/>
          <p:nvPr/>
        </p:nvSpPr>
        <p:spPr>
          <a:xfrm>
            <a:off x="347472" y="2066544"/>
            <a:ext cx="566928" cy="457200"/>
          </a:xfrm>
          <a:prstGeom prst="rect">
            <a:avLst/>
          </a:prstGeom>
          <a:solidFill>
            <a:srgbClr val="1D4ED8"/>
          </a:solidFill>
        </p:spPr>
      </p:sp>
      <p:sp>
        <p:nvSpPr>
          <p:cNvPr id="21" name="Text 19"/>
          <p:cNvSpPr/>
          <p:nvPr/>
        </p:nvSpPr>
        <p:spPr>
          <a:xfrm>
            <a:off x="347472" y="2066544"/>
            <a:ext cx="56692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Step 3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69264" y="2103120"/>
            <a:ext cx="400507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否定算子（逐元素）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69264" y="2304288"/>
            <a:ext cx="400507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G(¬Theorem)(xᵢ) = 1 − G(Theorem)(xᵢ)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47472" y="2578608"/>
            <a:ext cx="4709160" cy="658368"/>
          </a:xfrm>
          <a:prstGeom prst="rect">
            <a:avLst/>
          </a:prstGeom>
          <a:solidFill>
            <a:srgbClr val="0A2342"/>
          </a:solidFill>
        </p:spPr>
      </p:sp>
      <p:sp>
        <p:nvSpPr>
          <p:cNvPr id="25" name="Shape 23"/>
          <p:cNvSpPr/>
          <p:nvPr/>
        </p:nvSpPr>
        <p:spPr>
          <a:xfrm>
            <a:off x="347472" y="2578608"/>
            <a:ext cx="566928" cy="658368"/>
          </a:xfrm>
          <a:prstGeom prst="rect">
            <a:avLst/>
          </a:prstGeom>
          <a:solidFill>
            <a:srgbClr val="6D28D9"/>
          </a:solidFill>
        </p:spPr>
      </p:sp>
      <p:sp>
        <p:nvSpPr>
          <p:cNvPr id="26" name="Text 24"/>
          <p:cNvSpPr/>
          <p:nvPr/>
        </p:nvSpPr>
        <p:spPr>
          <a:xfrm>
            <a:off x="347472" y="2578608"/>
            <a:ext cx="566928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Step 4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69264" y="2615184"/>
            <a:ext cx="400507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蕴含算子（Product 语义）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70534" y="2688717"/>
            <a:ext cx="400507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每个样本的规则真值：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0" name="Shape 27"/>
          <p:cNvSpPr/>
          <p:nvPr/>
        </p:nvSpPr>
        <p:spPr>
          <a:xfrm>
            <a:off x="347472" y="3291840"/>
            <a:ext cx="4709160" cy="658368"/>
          </a:xfrm>
          <a:prstGeom prst="rect">
            <a:avLst/>
          </a:prstGeom>
          <a:solidFill>
            <a:srgbClr val="0A2342"/>
          </a:solidFill>
        </p:spPr>
      </p:sp>
      <p:sp>
        <p:nvSpPr>
          <p:cNvPr id="31" name="Shape 28"/>
          <p:cNvSpPr/>
          <p:nvPr/>
        </p:nvSpPr>
        <p:spPr>
          <a:xfrm>
            <a:off x="347472" y="3291840"/>
            <a:ext cx="566928" cy="658368"/>
          </a:xfrm>
          <a:prstGeom prst="rect">
            <a:avLst/>
          </a:prstGeom>
          <a:solidFill>
            <a:srgbClr val="15803D"/>
          </a:solidFill>
        </p:spPr>
      </p:sp>
      <p:sp>
        <p:nvSpPr>
          <p:cNvPr id="32" name="Text 29"/>
          <p:cNvSpPr/>
          <p:nvPr/>
        </p:nvSpPr>
        <p:spPr>
          <a:xfrm>
            <a:off x="347472" y="3291840"/>
            <a:ext cx="566928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Step 5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969264" y="3328416"/>
            <a:ext cx="400507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全称量词聚合（pMean-Error p=2）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969899" y="3328924"/>
            <a:ext cx="4005072" cy="201168"/>
          </a:xfrm>
          <a:prstGeom prst="rect">
            <a:avLst/>
          </a:prstGeom>
          <a:solidFill>
            <a:srgbClr val="0A2342"/>
          </a:solidFill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128个真值→单一满足度标量：</a:t>
            </a:r>
            <a:endParaRPr lang="en-US" sz="900" dirty="0">
              <a:solidFill>
                <a:schemeClr val="bg1"/>
              </a:solidFill>
            </a:endParaRPr>
          </a:p>
        </p:txBody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6504" y="2853944"/>
            <a:ext cx="2170786" cy="347472"/>
          </a:xfrm>
          <a:prstGeom prst="rect">
            <a:avLst/>
          </a:prstGeom>
        </p:spPr>
      </p:pic>
      <p:sp>
        <p:nvSpPr>
          <p:cNvPr id="36" name="Shape 32"/>
          <p:cNvSpPr/>
          <p:nvPr/>
        </p:nvSpPr>
        <p:spPr>
          <a:xfrm>
            <a:off x="347472" y="4005072"/>
            <a:ext cx="4709160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7" name="Shape 33"/>
          <p:cNvSpPr/>
          <p:nvPr/>
        </p:nvSpPr>
        <p:spPr>
          <a:xfrm>
            <a:off x="347472" y="4005072"/>
            <a:ext cx="566928" cy="45720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38" name="Text 34"/>
          <p:cNvSpPr/>
          <p:nvPr/>
        </p:nvSpPr>
        <p:spPr>
          <a:xfrm>
            <a:off x="347472" y="4005072"/>
            <a:ext cx="56692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Step 6</a:t>
            </a:r>
            <a:endParaRPr lang="en-US" sz="850" dirty="0"/>
          </a:p>
        </p:txBody>
      </p:sp>
      <p:sp>
        <p:nvSpPr>
          <p:cNvPr id="39" name="Text 35"/>
          <p:cNvSpPr/>
          <p:nvPr/>
        </p:nvSpPr>
        <p:spPr>
          <a:xfrm>
            <a:off x="969264" y="4041648"/>
            <a:ext cx="400507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知识库聚合（算术均值）</a:t>
            </a:r>
            <a:endParaRPr lang="en-US" sz="950" dirty="0"/>
          </a:p>
        </p:txBody>
      </p:sp>
      <p:sp>
        <p:nvSpPr>
          <p:cNvPr id="40" name="Text 36"/>
          <p:cNvSpPr/>
          <p:nvPr/>
        </p:nvSpPr>
        <p:spPr>
          <a:xfrm>
            <a:off x="969264" y="4242816"/>
            <a:ext cx="400507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ltn_sat = (R₁+R₂+R₃+R₄+R₅)/5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347472" y="4462272"/>
            <a:ext cx="4709160" cy="768096"/>
          </a:xfrm>
          <a:prstGeom prst="rect">
            <a:avLst/>
          </a:prstGeom>
          <a:solidFill>
            <a:srgbClr val="0A2342"/>
          </a:solidFill>
        </p:spPr>
      </p:sp>
      <p:sp>
        <p:nvSpPr>
          <p:cNvPr id="42" name="Text 38"/>
          <p:cNvSpPr/>
          <p:nvPr/>
        </p:nvSpPr>
        <p:spPr>
          <a:xfrm>
            <a:off x="438912" y="4512691"/>
            <a:ext cx="45720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</a:rPr>
              <a:t>混合损失反向传播：</a:t>
            </a:r>
            <a:endParaRPr lang="en-US" sz="1000" dirty="0"/>
          </a:p>
        </p:txBody>
      </p:sp>
      <p:pic>
        <p:nvPicPr>
          <p:cNvPr id="43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27" y="4732655"/>
            <a:ext cx="2183587" cy="347472"/>
          </a:xfrm>
          <a:prstGeom prst="rect">
            <a:avLst/>
          </a:prstGeom>
        </p:spPr>
      </p:pic>
      <p:sp>
        <p:nvSpPr>
          <p:cNvPr id="44" name="Shape 39"/>
          <p:cNvSpPr/>
          <p:nvPr/>
        </p:nvSpPr>
        <p:spPr>
          <a:xfrm>
            <a:off x="5330952" y="658368"/>
            <a:ext cx="3557016" cy="4315968"/>
          </a:xfrm>
          <a:prstGeom prst="rect">
            <a:avLst/>
          </a:prstGeom>
          <a:solidFill>
            <a:srgbClr val="FFFFFF"/>
          </a:solidFill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Shape 40"/>
          <p:cNvSpPr/>
          <p:nvPr/>
        </p:nvSpPr>
        <p:spPr>
          <a:xfrm>
            <a:off x="5330952" y="658368"/>
            <a:ext cx="3557016" cy="310896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46" name="Text 41"/>
          <p:cNvSpPr/>
          <p:nvPr/>
        </p:nvSpPr>
        <p:spPr>
          <a:xfrm>
            <a:off x="5404104" y="658368"/>
            <a:ext cx="3410712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谓词网络架构（×7 独立）</a:t>
            </a:r>
            <a:endParaRPr lang="en-US" sz="1050" dirty="0"/>
          </a:p>
        </p:txBody>
      </p:sp>
      <p:sp>
        <p:nvSpPr>
          <p:cNvPr id="47" name="Shape 42"/>
          <p:cNvSpPr/>
          <p:nvPr/>
        </p:nvSpPr>
        <p:spPr>
          <a:xfrm>
            <a:off x="5422392" y="1042416"/>
            <a:ext cx="3374136" cy="274320"/>
          </a:xfrm>
          <a:prstGeom prst="rect">
            <a:avLst/>
          </a:prstGeom>
          <a:solidFill>
            <a:srgbClr val="64748B"/>
          </a:solidFill>
          <a:effectLst>
            <a:outerShdw blurRad="889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8" name="Text 43"/>
          <p:cNvSpPr/>
          <p:nvPr/>
        </p:nvSpPr>
        <p:spPr>
          <a:xfrm>
            <a:off x="5477256" y="1078992"/>
            <a:ext cx="16459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FFFFFF"/>
                </a:solidFill>
              </a:rPr>
              <a:t>输入层</a:t>
            </a:r>
            <a:endParaRPr lang="en-US" sz="880" dirty="0"/>
          </a:p>
        </p:txBody>
      </p:sp>
      <p:sp>
        <p:nvSpPr>
          <p:cNvPr id="49" name="Text 44"/>
          <p:cNvSpPr/>
          <p:nvPr/>
        </p:nvSpPr>
        <p:spPr>
          <a:xfrm>
            <a:off x="7132320" y="1088136"/>
            <a:ext cx="1609344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FFFFF"/>
                </a:solidFill>
              </a:rPr>
              <a:t>x ∈ ℝ³⁰⁰（L2归一化TF-IDF）</a:t>
            </a:r>
            <a:endParaRPr lang="en-US" sz="800" dirty="0"/>
          </a:p>
        </p:txBody>
      </p:sp>
      <p:sp>
        <p:nvSpPr>
          <p:cNvPr id="50" name="Shape 45"/>
          <p:cNvSpPr/>
          <p:nvPr/>
        </p:nvSpPr>
        <p:spPr>
          <a:xfrm>
            <a:off x="7104888" y="1316736"/>
            <a:ext cx="0" cy="54864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5422392" y="1371600"/>
            <a:ext cx="3374136" cy="274320"/>
          </a:xfrm>
          <a:prstGeom prst="rect">
            <a:avLst/>
          </a:prstGeom>
          <a:solidFill>
            <a:srgbClr val="0A2342"/>
          </a:solidFill>
          <a:effectLst>
            <a:outerShdw blurRad="889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2" name="Text 47"/>
          <p:cNvSpPr/>
          <p:nvPr/>
        </p:nvSpPr>
        <p:spPr>
          <a:xfrm>
            <a:off x="5477256" y="1408176"/>
            <a:ext cx="16459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FFFFFF"/>
                </a:solidFill>
              </a:rPr>
              <a:t>Linear(300→256)</a:t>
            </a:r>
            <a:endParaRPr lang="en-US" sz="880" dirty="0"/>
          </a:p>
        </p:txBody>
      </p:sp>
      <p:sp>
        <p:nvSpPr>
          <p:cNvPr id="53" name="Shape 48"/>
          <p:cNvSpPr/>
          <p:nvPr/>
        </p:nvSpPr>
        <p:spPr>
          <a:xfrm>
            <a:off x="7104888" y="1645920"/>
            <a:ext cx="0" cy="54864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54" name="Shape 49"/>
          <p:cNvSpPr/>
          <p:nvPr/>
        </p:nvSpPr>
        <p:spPr>
          <a:xfrm>
            <a:off x="5422392" y="1700784"/>
            <a:ext cx="3374136" cy="274320"/>
          </a:xfrm>
          <a:prstGeom prst="rect">
            <a:avLst/>
          </a:prstGeom>
          <a:solidFill>
            <a:srgbClr val="1D4ED8"/>
          </a:solidFill>
          <a:effectLst>
            <a:outerShdw blurRad="889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5" name="Text 50"/>
          <p:cNvSpPr/>
          <p:nvPr/>
        </p:nvSpPr>
        <p:spPr>
          <a:xfrm>
            <a:off x="5477256" y="1737360"/>
            <a:ext cx="16459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FFFFFF"/>
                </a:solidFill>
              </a:rPr>
              <a:t>LayerNorm(256)</a:t>
            </a:r>
            <a:endParaRPr lang="en-US" sz="880" dirty="0"/>
          </a:p>
        </p:txBody>
      </p:sp>
      <p:sp>
        <p:nvSpPr>
          <p:cNvPr id="56" name="Text 51"/>
          <p:cNvSpPr/>
          <p:nvPr/>
        </p:nvSpPr>
        <p:spPr>
          <a:xfrm>
            <a:off x="7132320" y="1746504"/>
            <a:ext cx="1609344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FFFFF"/>
                </a:solidFill>
              </a:rPr>
              <a:t>★ 替代 BatchNorm</a:t>
            </a:r>
            <a:endParaRPr lang="en-US" sz="800" dirty="0"/>
          </a:p>
        </p:txBody>
      </p:sp>
      <p:sp>
        <p:nvSpPr>
          <p:cNvPr id="57" name="Shape 52"/>
          <p:cNvSpPr/>
          <p:nvPr/>
        </p:nvSpPr>
        <p:spPr>
          <a:xfrm>
            <a:off x="7104888" y="1975104"/>
            <a:ext cx="0" cy="54864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5422392" y="2029968"/>
            <a:ext cx="3374136" cy="274320"/>
          </a:xfrm>
          <a:prstGeom prst="rect">
            <a:avLst/>
          </a:prstGeom>
          <a:solidFill>
            <a:srgbClr val="028090"/>
          </a:solidFill>
          <a:effectLst>
            <a:outerShdw blurRad="889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9" name="Text 54"/>
          <p:cNvSpPr/>
          <p:nvPr/>
        </p:nvSpPr>
        <p:spPr>
          <a:xfrm>
            <a:off x="5477256" y="2066544"/>
            <a:ext cx="16459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FFFFFF"/>
                </a:solidFill>
              </a:rPr>
              <a:t>GELU</a:t>
            </a:r>
            <a:endParaRPr lang="en-US" sz="880" dirty="0"/>
          </a:p>
        </p:txBody>
      </p:sp>
      <p:sp>
        <p:nvSpPr>
          <p:cNvPr id="60" name="Text 55"/>
          <p:cNvSpPr/>
          <p:nvPr/>
        </p:nvSpPr>
        <p:spPr>
          <a:xfrm>
            <a:off x="7132320" y="2075688"/>
            <a:ext cx="1609344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FFFFF"/>
                </a:solidFill>
              </a:rPr>
              <a:t>平滑激活，无截断梯度</a:t>
            </a:r>
            <a:endParaRPr lang="en-US" sz="800" dirty="0"/>
          </a:p>
        </p:txBody>
      </p:sp>
      <p:sp>
        <p:nvSpPr>
          <p:cNvPr id="61" name="Shape 56"/>
          <p:cNvSpPr/>
          <p:nvPr/>
        </p:nvSpPr>
        <p:spPr>
          <a:xfrm>
            <a:off x="7104888" y="2304288"/>
            <a:ext cx="0" cy="54864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62" name="Shape 57"/>
          <p:cNvSpPr/>
          <p:nvPr/>
        </p:nvSpPr>
        <p:spPr>
          <a:xfrm>
            <a:off x="5422392" y="2359152"/>
            <a:ext cx="3374136" cy="274320"/>
          </a:xfrm>
          <a:prstGeom prst="rect">
            <a:avLst/>
          </a:prstGeom>
          <a:solidFill>
            <a:srgbClr val="64748B"/>
          </a:solidFill>
          <a:effectLst>
            <a:outerShdw blurRad="889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63" name="Text 58"/>
          <p:cNvSpPr/>
          <p:nvPr/>
        </p:nvSpPr>
        <p:spPr>
          <a:xfrm>
            <a:off x="5477256" y="2395728"/>
            <a:ext cx="16459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FFFFFF"/>
                </a:solidFill>
              </a:rPr>
              <a:t>Dropout(0.15)</a:t>
            </a:r>
            <a:endParaRPr lang="en-US" sz="880" dirty="0"/>
          </a:p>
        </p:txBody>
      </p:sp>
      <p:sp>
        <p:nvSpPr>
          <p:cNvPr id="64" name="Text 59"/>
          <p:cNvSpPr/>
          <p:nvPr/>
        </p:nvSpPr>
        <p:spPr>
          <a:xfrm>
            <a:off x="7132320" y="2404872"/>
            <a:ext cx="1609344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FFFFF"/>
                </a:solidFill>
              </a:rPr>
              <a:t>防过拟合</a:t>
            </a:r>
            <a:endParaRPr lang="en-US" sz="800" dirty="0"/>
          </a:p>
        </p:txBody>
      </p:sp>
      <p:sp>
        <p:nvSpPr>
          <p:cNvPr id="65" name="Shape 60"/>
          <p:cNvSpPr/>
          <p:nvPr/>
        </p:nvSpPr>
        <p:spPr>
          <a:xfrm>
            <a:off x="7104888" y="2633472"/>
            <a:ext cx="0" cy="54864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66" name="Shape 61"/>
          <p:cNvSpPr/>
          <p:nvPr/>
        </p:nvSpPr>
        <p:spPr>
          <a:xfrm>
            <a:off x="5422392" y="2688336"/>
            <a:ext cx="3374136" cy="274320"/>
          </a:xfrm>
          <a:prstGeom prst="rect">
            <a:avLst/>
          </a:prstGeom>
          <a:solidFill>
            <a:srgbClr val="0A2342"/>
          </a:solidFill>
          <a:effectLst>
            <a:outerShdw blurRad="889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67" name="Text 62"/>
          <p:cNvSpPr/>
          <p:nvPr/>
        </p:nvSpPr>
        <p:spPr>
          <a:xfrm>
            <a:off x="5477256" y="2724912"/>
            <a:ext cx="16459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FFFFFF"/>
                </a:solidFill>
              </a:rPr>
              <a:t>Linear(256→128)</a:t>
            </a:r>
            <a:endParaRPr lang="en-US" sz="880" dirty="0"/>
          </a:p>
        </p:txBody>
      </p:sp>
      <p:sp>
        <p:nvSpPr>
          <p:cNvPr id="68" name="Shape 63"/>
          <p:cNvSpPr/>
          <p:nvPr/>
        </p:nvSpPr>
        <p:spPr>
          <a:xfrm>
            <a:off x="7104888" y="2962656"/>
            <a:ext cx="0" cy="54864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69" name="Shape 64"/>
          <p:cNvSpPr/>
          <p:nvPr/>
        </p:nvSpPr>
        <p:spPr>
          <a:xfrm>
            <a:off x="5422392" y="3017520"/>
            <a:ext cx="3374136" cy="274320"/>
          </a:xfrm>
          <a:prstGeom prst="rect">
            <a:avLst/>
          </a:prstGeom>
          <a:solidFill>
            <a:srgbClr val="1D4ED8"/>
          </a:solidFill>
          <a:effectLst>
            <a:outerShdw blurRad="889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70" name="Text 65"/>
          <p:cNvSpPr/>
          <p:nvPr/>
        </p:nvSpPr>
        <p:spPr>
          <a:xfrm>
            <a:off x="5477256" y="3054096"/>
            <a:ext cx="16459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FFFFFF"/>
                </a:solidFill>
              </a:rPr>
              <a:t>LayerNorm(128)</a:t>
            </a:r>
            <a:endParaRPr lang="en-US" sz="880" dirty="0"/>
          </a:p>
        </p:txBody>
      </p:sp>
      <p:sp>
        <p:nvSpPr>
          <p:cNvPr id="71" name="Shape 66"/>
          <p:cNvSpPr/>
          <p:nvPr/>
        </p:nvSpPr>
        <p:spPr>
          <a:xfrm>
            <a:off x="7104888" y="3291840"/>
            <a:ext cx="0" cy="54864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72" name="Shape 67"/>
          <p:cNvSpPr/>
          <p:nvPr/>
        </p:nvSpPr>
        <p:spPr>
          <a:xfrm>
            <a:off x="5422392" y="3346704"/>
            <a:ext cx="3374136" cy="274320"/>
          </a:xfrm>
          <a:prstGeom prst="rect">
            <a:avLst/>
          </a:prstGeom>
          <a:solidFill>
            <a:srgbClr val="028090"/>
          </a:solidFill>
          <a:effectLst>
            <a:outerShdw blurRad="889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73" name="Text 68"/>
          <p:cNvSpPr/>
          <p:nvPr/>
        </p:nvSpPr>
        <p:spPr>
          <a:xfrm>
            <a:off x="5477256" y="3383280"/>
            <a:ext cx="16459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FFFFFF"/>
                </a:solidFill>
              </a:rPr>
              <a:t>GELU</a:t>
            </a:r>
            <a:endParaRPr lang="en-US" sz="880" dirty="0"/>
          </a:p>
        </p:txBody>
      </p:sp>
      <p:sp>
        <p:nvSpPr>
          <p:cNvPr id="74" name="Shape 69"/>
          <p:cNvSpPr/>
          <p:nvPr/>
        </p:nvSpPr>
        <p:spPr>
          <a:xfrm>
            <a:off x="7104888" y="3621024"/>
            <a:ext cx="0" cy="54864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75" name="Shape 70"/>
          <p:cNvSpPr/>
          <p:nvPr/>
        </p:nvSpPr>
        <p:spPr>
          <a:xfrm>
            <a:off x="5422392" y="3675888"/>
            <a:ext cx="3374136" cy="274320"/>
          </a:xfrm>
          <a:prstGeom prst="rect">
            <a:avLst/>
          </a:prstGeom>
          <a:solidFill>
            <a:srgbClr val="0A2342"/>
          </a:solidFill>
          <a:effectLst>
            <a:outerShdw blurRad="889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76" name="Text 71"/>
          <p:cNvSpPr/>
          <p:nvPr/>
        </p:nvSpPr>
        <p:spPr>
          <a:xfrm>
            <a:off x="5477256" y="3712464"/>
            <a:ext cx="16459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FFFFFF"/>
                </a:solidFill>
              </a:rPr>
              <a:t>Linear(128→1)</a:t>
            </a:r>
            <a:endParaRPr lang="en-US" sz="880" dirty="0"/>
          </a:p>
        </p:txBody>
      </p:sp>
      <p:sp>
        <p:nvSpPr>
          <p:cNvPr id="77" name="Text 72"/>
          <p:cNvSpPr/>
          <p:nvPr/>
        </p:nvSpPr>
        <p:spPr>
          <a:xfrm>
            <a:off x="7132320" y="3721608"/>
            <a:ext cx="1609344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FFFFF"/>
                </a:solidFill>
              </a:rPr>
              <a:t>→ squeeze(-1)</a:t>
            </a:r>
            <a:endParaRPr lang="en-US" sz="800" dirty="0"/>
          </a:p>
        </p:txBody>
      </p:sp>
      <p:sp>
        <p:nvSpPr>
          <p:cNvPr id="78" name="Shape 73"/>
          <p:cNvSpPr/>
          <p:nvPr/>
        </p:nvSpPr>
        <p:spPr>
          <a:xfrm>
            <a:off x="7104888" y="3950208"/>
            <a:ext cx="0" cy="54864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79" name="Shape 74"/>
          <p:cNvSpPr/>
          <p:nvPr/>
        </p:nvSpPr>
        <p:spPr>
          <a:xfrm>
            <a:off x="5422392" y="4005072"/>
            <a:ext cx="3374136" cy="274320"/>
          </a:xfrm>
          <a:prstGeom prst="rect">
            <a:avLst/>
          </a:prstGeom>
          <a:solidFill>
            <a:srgbClr val="02C39A"/>
          </a:solidFill>
          <a:effectLst>
            <a:outerShdw blurRad="889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80" name="Text 75"/>
          <p:cNvSpPr/>
          <p:nvPr/>
        </p:nvSpPr>
        <p:spPr>
          <a:xfrm>
            <a:off x="5477256" y="4041648"/>
            <a:ext cx="16459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FFFFFF"/>
                </a:solidFill>
              </a:rPr>
              <a:t>Sigmoid + safe()</a:t>
            </a:r>
            <a:endParaRPr lang="en-US" sz="880" dirty="0"/>
          </a:p>
        </p:txBody>
      </p:sp>
      <p:sp>
        <p:nvSpPr>
          <p:cNvPr id="81" name="Text 76"/>
          <p:cNvSpPr/>
          <p:nvPr/>
        </p:nvSpPr>
        <p:spPr>
          <a:xfrm>
            <a:off x="7132320" y="4050792"/>
            <a:ext cx="1609344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FFFFF"/>
                </a:solidFill>
              </a:rPr>
              <a:t>输出 ∈ (ε,1−ε)</a:t>
            </a:r>
            <a:endParaRPr lang="en-US" sz="800" dirty="0"/>
          </a:p>
        </p:txBody>
      </p:sp>
      <p:sp>
        <p:nvSpPr>
          <p:cNvPr id="82" name="Shape 77"/>
          <p:cNvSpPr/>
          <p:nvPr/>
        </p:nvSpPr>
        <p:spPr>
          <a:xfrm>
            <a:off x="5422392" y="4352544"/>
            <a:ext cx="3374136" cy="512064"/>
          </a:xfrm>
          <a:prstGeom prst="rect">
            <a:avLst/>
          </a:prstGeom>
          <a:solidFill>
            <a:srgbClr val="EBF4FA"/>
          </a:solidFill>
        </p:spPr>
      </p:sp>
      <p:sp>
        <p:nvSpPr>
          <p:cNvPr id="83" name="Text 78"/>
          <p:cNvSpPr/>
          <p:nvPr/>
        </p:nvSpPr>
        <p:spPr>
          <a:xfrm>
            <a:off x="5504688" y="4407408"/>
            <a:ext cx="32004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单谓词参数：≈ 110,721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7 谓词总参数：≈ 775,047</a:t>
            </a:r>
            <a:endParaRPr lang="en-US" sz="1000" dirty="0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676015"/>
            <a:ext cx="4156710" cy="1974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A2342"/>
          </a:solidFill>
        </p:spPr>
      </p:sp>
      <p:sp>
        <p:nvSpPr>
          <p:cNvPr id="3" name="Shape 1"/>
          <p:cNvSpPr/>
          <p:nvPr/>
        </p:nvSpPr>
        <p:spPr>
          <a:xfrm>
            <a:off x="0" y="548640"/>
            <a:ext cx="9144000" cy="43891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4" name="Text 2"/>
          <p:cNvSpPr/>
          <p:nvPr/>
        </p:nvSpPr>
        <p:spPr>
          <a:xfrm>
            <a:off x="320040" y="64008"/>
            <a:ext cx="62179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05  实验结果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583680" y="109728"/>
            <a:ext cx="24231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02C39A"/>
                </a:solidFill>
              </a:rPr>
              <a:t>训练过程 · 分类性能 · 规则满足度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56032" y="658368"/>
            <a:ext cx="5029200" cy="2487168"/>
          </a:xfrm>
          <a:prstGeom prst="rect">
            <a:avLst/>
          </a:prstGeom>
          <a:solidFill>
            <a:srgbClr val="FFFFFF"/>
          </a:solidFill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" y="713232"/>
            <a:ext cx="48463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训练损失 &amp; LTN 满足度（50 Epochs）</a:t>
            </a:r>
            <a:endParaRPr lang="en-US" sz="11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256032" y="969264"/>
          <a:ext cx="502920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5532120" y="658368"/>
            <a:ext cx="3355848" cy="2487168"/>
          </a:xfrm>
          <a:prstGeom prst="rect">
            <a:avLst/>
          </a:prstGeom>
          <a:solidFill>
            <a:srgbClr val="FFFFFF"/>
          </a:solidFill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623560" y="713232"/>
            <a:ext cx="3172968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5 条规则最终满足度（测试集）</a:t>
            </a:r>
            <a:endParaRPr lang="en-US" sz="1100" dirty="0"/>
          </a:p>
        </p:txBody>
      </p:sp>
      <p:graphicFrame>
        <p:nvGraphicFramePr>
          <p:cNvPr id="11" name="Chart 1"/>
          <p:cNvGraphicFramePr/>
          <p:nvPr/>
        </p:nvGraphicFramePr>
        <p:xfrm>
          <a:off x="5532120" y="969264"/>
          <a:ext cx="3355848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Shape 8"/>
          <p:cNvSpPr/>
          <p:nvPr/>
        </p:nvSpPr>
        <p:spPr>
          <a:xfrm>
            <a:off x="256032" y="3236976"/>
            <a:ext cx="8631936" cy="1773936"/>
          </a:xfrm>
          <a:prstGeom prst="rect">
            <a:avLst/>
          </a:prstGeom>
          <a:solidFill>
            <a:srgbClr val="FFFFFF"/>
          </a:solidFill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320167" y="2981325"/>
            <a:ext cx="844905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测试集分类性能（动态 Youden 阈值）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320167" y="3221990"/>
          <a:ext cx="8631936" cy="1371600"/>
        </p:xfrm>
        <a:graphic>
          <a:graphicData uri="http://schemas.openxmlformats.org/drawingml/2006/table">
            <a:tbl>
              <a:tblPr/>
              <a:tblGrid>
                <a:gridCol w="1188720"/>
                <a:gridCol w="777240"/>
                <a:gridCol w="777240"/>
                <a:gridCol w="777240"/>
                <a:gridCol w="713232"/>
                <a:gridCol w="713232"/>
                <a:gridCol w="1078992"/>
                <a:gridCol w="1691640"/>
              </a:tblGrid>
              <a:tr h="1714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谓词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Acc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Prec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Rec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AUC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正例/总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评级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empty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1.000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1.000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1.000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1.000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1.000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110/913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★★★ 完美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setrel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0.999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1.000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0.996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0.998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1.000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282/913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2C39A"/>
                          </a:solidFill>
                        </a:rPr>
                        <a:t>★★★ 完美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functor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0.966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0.997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0.961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0.979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0.992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743/913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2C39A"/>
                          </a:solidFill>
                        </a:rPr>
                        <a:t>★★★ 优秀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manysym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0.938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0.929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0.927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0.928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0.977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395/913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28090"/>
                          </a:solidFill>
                        </a:rPr>
                        <a:t>★★★ 优秀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theorem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0.654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0.715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0.533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0.611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0.710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465/913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28090"/>
                          </a:solidFill>
                        </a:rPr>
                        <a:t>★★ 中等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commut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0.867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0.040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0.714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0.076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0.832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7/913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AUC良好★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definition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0.660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0.142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0.494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0.221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0.584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89/913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</a:rPr>
                        <a:t>★ 受限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256032" y="4974336"/>
            <a:ext cx="8631936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i="1" dirty="0">
                <a:solidFill>
                  <a:srgbClr val="64748B"/>
                </a:solidFill>
              </a:rPr>
              <a:t>※ commut AUC=0.832（模型有排序能力），F1 极低源于测试集仅 7 个正例的固有困难，非方法失效</a:t>
            </a:r>
            <a:endParaRPr lang="en-US" sz="8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A2342"/>
          </a:solidFill>
        </p:spPr>
      </p:sp>
      <p:sp>
        <p:nvSpPr>
          <p:cNvPr id="3" name="Shape 1"/>
          <p:cNvSpPr/>
          <p:nvPr/>
        </p:nvSpPr>
        <p:spPr>
          <a:xfrm>
            <a:off x="0" y="548640"/>
            <a:ext cx="9144000" cy="43891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4" name="Text 2"/>
          <p:cNvSpPr/>
          <p:nvPr/>
        </p:nvSpPr>
        <p:spPr>
          <a:xfrm>
            <a:off x="320040" y="64008"/>
            <a:ext cx="62179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06  改进效果分析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583680" y="109728"/>
            <a:ext cx="24231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02C39A"/>
                </a:solidFill>
              </a:rPr>
              <a:t>量化验证 · 成功案例 · 受限场景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56032" y="658368"/>
            <a:ext cx="2788920" cy="786384"/>
          </a:xfrm>
          <a:prstGeom prst="rect">
            <a:avLst/>
          </a:prstGeom>
          <a:solidFill>
            <a:srgbClr val="0A2342"/>
          </a:solidFill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6032" y="685800"/>
            <a:ext cx="27889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5803D"/>
                </a:solidFill>
              </a:rPr>
              <a:t>✅ 完全解决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56032" y="1097280"/>
            <a:ext cx="27889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</a:rPr>
              <a:t>预测坍塌（Collapse）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6032" y="1280160"/>
            <a:ext cx="278892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AECDE4"/>
                </a:solidFill>
              </a:rPr>
              <a:t>训练全程零坍塌，零NaN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163824" y="658368"/>
            <a:ext cx="2788920" cy="786384"/>
          </a:xfrm>
          <a:prstGeom prst="rect">
            <a:avLst/>
          </a:prstGeom>
          <a:solidFill>
            <a:srgbClr val="0A2342"/>
          </a:solidFill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163824" y="685800"/>
            <a:ext cx="27889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8090"/>
                </a:solidFill>
              </a:rPr>
              <a:t>0.8712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63824" y="1097280"/>
            <a:ext cx="27889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</a:rPr>
              <a:t>LTN 规则总满足度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163824" y="1280160"/>
            <a:ext cx="278892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AECDE4"/>
                </a:solidFill>
              </a:rPr>
              <a:t>显著高于随机基准(~0.5)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071616" y="658368"/>
            <a:ext cx="2788920" cy="786384"/>
          </a:xfrm>
          <a:prstGeom prst="rect">
            <a:avLst/>
          </a:prstGeom>
          <a:solidFill>
            <a:srgbClr val="0A2342"/>
          </a:solidFill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71616" y="685800"/>
            <a:ext cx="27889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D4ED8"/>
                </a:solidFill>
              </a:rPr>
              <a:t>4/7谓词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071616" y="1097280"/>
            <a:ext cx="27889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</a:rPr>
              <a:t>AUC ≥ 0.97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71616" y="1280160"/>
            <a:ext cx="278892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AECDE4"/>
                </a:solidFill>
              </a:rPr>
              <a:t>empty/setrel/functor/manysym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56032" y="1572768"/>
            <a:ext cx="5212080" cy="3401568"/>
          </a:xfrm>
          <a:prstGeom prst="rect">
            <a:avLst/>
          </a:prstGeom>
          <a:solidFill>
            <a:srgbClr val="FFFFFF"/>
          </a:solidFill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6032" y="1572768"/>
            <a:ext cx="5212080" cy="310896"/>
          </a:xfrm>
          <a:prstGeom prst="rect">
            <a:avLst/>
          </a:prstGeom>
          <a:solidFill>
            <a:srgbClr val="0A2342"/>
          </a:solidFill>
        </p:spPr>
      </p:sp>
      <p:sp>
        <p:nvSpPr>
          <p:cNvPr id="20" name="Text 18"/>
          <p:cNvSpPr/>
          <p:nvPr/>
        </p:nvSpPr>
        <p:spPr>
          <a:xfrm>
            <a:off x="329184" y="1572768"/>
            <a:ext cx="5065776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改进成功性逐项验证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47472" y="1938528"/>
            <a:ext cx="5029200" cy="237744"/>
          </a:xfrm>
          <a:prstGeom prst="rect">
            <a:avLst/>
          </a:prstGeom>
          <a:solidFill>
            <a:srgbClr val="EBF4FA"/>
          </a:solidFill>
        </p:spPr>
      </p:sp>
      <p:sp>
        <p:nvSpPr>
          <p:cNvPr id="22" name="Text 20"/>
          <p:cNvSpPr/>
          <p:nvPr/>
        </p:nvSpPr>
        <p:spPr>
          <a:xfrm>
            <a:off x="347472" y="1938528"/>
            <a:ext cx="13258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</a:rPr>
              <a:t>改进项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673352" y="1938528"/>
            <a:ext cx="1481328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</a:rPr>
              <a:t>手段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154680" y="1938528"/>
            <a:ext cx="1024128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</a:rPr>
              <a:t>v2 原始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178808" y="1938528"/>
            <a:ext cx="896112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</a:rPr>
              <a:t>本文 v4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074920" y="1938528"/>
            <a:ext cx="393192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</a:rPr>
              <a:t>效果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47472" y="2194560"/>
            <a:ext cx="5029200" cy="365760"/>
          </a:xfrm>
          <a:prstGeom prst="rect">
            <a:avLst/>
          </a:prstGeom>
          <a:solidFill>
            <a:srgbClr val="F0FDF4"/>
          </a:solidFill>
        </p:spPr>
      </p:sp>
      <p:sp>
        <p:nvSpPr>
          <p:cNvPr id="28" name="Text 26"/>
          <p:cNvSpPr/>
          <p:nvPr/>
        </p:nvSpPr>
        <p:spPr>
          <a:xfrm>
            <a:off x="347472" y="2212848"/>
            <a:ext cx="13258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</a:rPr>
              <a:t>①混合损失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673352" y="2212848"/>
            <a:ext cx="148132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</a:rPr>
              <a:t>α·L_LTN+(1-α)·L_BCE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</a:rPr>
              <a:t>α=0.3 加权w_k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154680" y="2212848"/>
            <a:ext cx="102412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0392B"/>
                </a:solidFill>
              </a:rPr>
              <a:t>Collapse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0392B"/>
                </a:solidFill>
              </a:rPr>
              <a:t>F1=0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178808" y="2212848"/>
            <a:ext cx="89611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5803D"/>
                </a:solidFill>
              </a:rPr>
              <a:t>F1 Macro=0.692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5803D"/>
                </a:solidFill>
              </a:rPr>
              <a:t>5/7&gt;0.9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074920" y="2212848"/>
            <a:ext cx="39319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803D"/>
                </a:solidFill>
              </a:rPr>
              <a:t>✅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47472" y="2596896"/>
            <a:ext cx="5029200" cy="365760"/>
          </a:xfrm>
          <a:prstGeom prst="rect">
            <a:avLst/>
          </a:prstGeom>
          <a:solidFill>
            <a:srgbClr val="F0FDF4"/>
          </a:solidFill>
        </p:spPr>
      </p:sp>
      <p:sp>
        <p:nvSpPr>
          <p:cNvPr id="34" name="Text 32"/>
          <p:cNvSpPr/>
          <p:nvPr/>
        </p:nvSpPr>
        <p:spPr>
          <a:xfrm>
            <a:off x="347472" y="2615184"/>
            <a:ext cx="13258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</a:rPr>
              <a:t>②不平衡处理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673352" y="2615184"/>
            <a:ext cx="148132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</a:rPr>
              <a:t>动态权重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</a:rPr>
              <a:t>w_k上限30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154680" y="2615184"/>
            <a:ext cx="102412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0392B"/>
                </a:solidFill>
              </a:rPr>
              <a:t>commut召回≈0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178808" y="2615184"/>
            <a:ext cx="89611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5803D"/>
                </a:solidFill>
              </a:rPr>
              <a:t>AUC=0.832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5803D"/>
                </a:solidFill>
              </a:rPr>
              <a:t>召回=0.714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074920" y="2615184"/>
            <a:ext cx="39319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803D"/>
                </a:solidFill>
              </a:rPr>
              <a:t>✅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47472" y="2999232"/>
            <a:ext cx="5029200" cy="365760"/>
          </a:xfrm>
          <a:prstGeom prst="rect">
            <a:avLst/>
          </a:prstGeom>
          <a:solidFill>
            <a:srgbClr val="F0FDF4"/>
          </a:solidFill>
        </p:spPr>
      </p:sp>
      <p:sp>
        <p:nvSpPr>
          <p:cNvPr id="40" name="Text 38"/>
          <p:cNvSpPr/>
          <p:nvPr/>
        </p:nvSpPr>
        <p:spPr>
          <a:xfrm>
            <a:off x="347472" y="3017520"/>
            <a:ext cx="13258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</a:rPr>
              <a:t>③独立网络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673352" y="3017520"/>
            <a:ext cx="148132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</a:rPr>
              <a:t>7个MLP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</a:rPr>
              <a:t>5条领域规则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154680" y="3017520"/>
            <a:ext cx="102412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0392B"/>
                </a:solidFill>
              </a:rPr>
              <a:t>无多标签设计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178808" y="3017520"/>
            <a:ext cx="89611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5803D"/>
                </a:solidFill>
              </a:rPr>
              <a:t>ltn_sat=0.871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5803D"/>
                </a:solidFill>
              </a:rPr>
              <a:t>R3=0.993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074920" y="3017520"/>
            <a:ext cx="39319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803D"/>
                </a:solidFill>
              </a:rPr>
              <a:t>✅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347472" y="3401568"/>
            <a:ext cx="5029200" cy="365760"/>
          </a:xfrm>
          <a:prstGeom prst="rect">
            <a:avLst/>
          </a:prstGeom>
          <a:solidFill>
            <a:srgbClr val="F0FDF4"/>
          </a:solidFill>
        </p:spPr>
      </p:sp>
      <p:sp>
        <p:nvSpPr>
          <p:cNvPr id="46" name="Text 44"/>
          <p:cNvSpPr/>
          <p:nvPr/>
        </p:nvSpPr>
        <p:spPr>
          <a:xfrm>
            <a:off x="347472" y="3419856"/>
            <a:ext cx="13258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</a:rPr>
              <a:t>④数值稳定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1673352" y="3419856"/>
            <a:ext cx="148132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</a:rPr>
              <a:t>safe()+LN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</a:rPr>
              <a:t>梯度裁剪+跳批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154680" y="3419856"/>
            <a:ext cx="102412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0392B"/>
                </a:solidFill>
              </a:rPr>
              <a:t>全程NaN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178808" y="3419856"/>
            <a:ext cx="89611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5803D"/>
                </a:solidFill>
              </a:rPr>
              <a:t>零NaN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5803D"/>
                </a:solidFill>
              </a:rPr>
              <a:t>全程稳定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074920" y="3419856"/>
            <a:ext cx="39319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803D"/>
                </a:solidFill>
              </a:rPr>
              <a:t>✅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347472" y="3803904"/>
            <a:ext cx="5029200" cy="365760"/>
          </a:xfrm>
          <a:prstGeom prst="rect">
            <a:avLst/>
          </a:prstGeom>
          <a:solidFill>
            <a:srgbClr val="F0FDF4"/>
          </a:solidFill>
        </p:spPr>
      </p:sp>
      <p:sp>
        <p:nvSpPr>
          <p:cNvPr id="52" name="Text 50"/>
          <p:cNvSpPr/>
          <p:nvPr/>
        </p:nvSpPr>
        <p:spPr>
          <a:xfrm>
            <a:off x="347472" y="3822192"/>
            <a:ext cx="13258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</a:rPr>
              <a:t>⑤动态阈值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1673352" y="3822192"/>
            <a:ext cx="148132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</a:rPr>
              <a:t>Youden指数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</a:rPr>
              <a:t>ROC最优点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3154680" y="3822192"/>
            <a:ext cx="102412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0392B"/>
                </a:solidFill>
              </a:rPr>
              <a:t>commut F1=0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178808" y="3822192"/>
            <a:ext cx="89611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5803D"/>
                </a:solidFill>
              </a:rPr>
              <a:t>AUC=0.832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5803D"/>
                </a:solidFill>
              </a:rPr>
              <a:t>真实能力可见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5074920" y="3822192"/>
            <a:ext cx="39319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803D"/>
                </a:solidFill>
              </a:rPr>
              <a:t>✅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347472" y="4206240"/>
            <a:ext cx="5029200" cy="365760"/>
          </a:xfrm>
          <a:prstGeom prst="rect">
            <a:avLst/>
          </a:prstGeom>
          <a:solidFill>
            <a:srgbClr val="FFFBEB"/>
          </a:solidFill>
        </p:spPr>
      </p:sp>
      <p:sp>
        <p:nvSpPr>
          <p:cNvPr id="58" name="Text 56"/>
          <p:cNvSpPr/>
          <p:nvPr/>
        </p:nvSpPr>
        <p:spPr>
          <a:xfrm>
            <a:off x="347472" y="4224528"/>
            <a:ext cx="13258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</a:rPr>
              <a:t>R4规则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1673352" y="4224528"/>
            <a:ext cx="148132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</a:rPr>
              <a:t>ManySym→Thm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</a:rPr>
              <a:t>弱先验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3154680" y="4224528"/>
            <a:ext cx="102412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0392B"/>
                </a:solidFill>
              </a:rPr>
              <a:t>先验62%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4178808" y="4224528"/>
            <a:ext cx="89611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97706"/>
                </a:solidFill>
              </a:rPr>
              <a:t>满足度0.614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D97706"/>
                </a:solidFill>
              </a:rPr>
              <a:t>偏低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5074920" y="4224528"/>
            <a:ext cx="39319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706"/>
                </a:solidFill>
              </a:rPr>
              <a:t>⚠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347472" y="4608576"/>
            <a:ext cx="5029200" cy="365760"/>
          </a:xfrm>
          <a:prstGeom prst="rect">
            <a:avLst/>
          </a:prstGeom>
          <a:solidFill>
            <a:srgbClr val="FEF2F2"/>
          </a:solidFill>
        </p:spPr>
      </p:sp>
      <p:sp>
        <p:nvSpPr>
          <p:cNvPr id="64" name="Text 62"/>
          <p:cNvSpPr/>
          <p:nvPr/>
        </p:nvSpPr>
        <p:spPr>
          <a:xfrm>
            <a:off x="347472" y="4626864"/>
            <a:ext cx="13258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</a:rPr>
              <a:t>Definition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1673352" y="4626864"/>
            <a:ext cx="148132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</a:rPr>
              <a:t>特征重叠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</a:rPr>
              <a:t>与Theorem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3154680" y="4626864"/>
            <a:ext cx="102412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0392B"/>
                </a:solidFill>
              </a:rPr>
              <a:t>N/A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4178808" y="4626864"/>
            <a:ext cx="89611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0392B"/>
                </a:solidFill>
              </a:rPr>
              <a:t>F1=0.221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0392B"/>
                </a:solidFill>
              </a:rPr>
              <a:t>AUC=0.584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5074920" y="4626864"/>
            <a:ext cx="39319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</a:rPr>
              <a:t>❌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5650992" y="1572768"/>
            <a:ext cx="3236976" cy="3401568"/>
          </a:xfrm>
          <a:prstGeom prst="rect">
            <a:avLst/>
          </a:prstGeom>
          <a:solidFill>
            <a:srgbClr val="FFFFFF"/>
          </a:solidFill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5650992" y="1572768"/>
            <a:ext cx="3236976" cy="310896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71" name="Text 69"/>
          <p:cNvSpPr/>
          <p:nvPr/>
        </p:nvSpPr>
        <p:spPr>
          <a:xfrm>
            <a:off x="5724144" y="1572768"/>
            <a:ext cx="3090672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与原论文方法定量对比</a:t>
            </a:r>
            <a:endParaRPr lang="en-US" sz="1050" dirty="0"/>
          </a:p>
        </p:txBody>
      </p:sp>
      <p:graphicFrame>
        <p:nvGraphicFramePr>
          <p:cNvPr id="72" name="Table 0"/>
          <p:cNvGraphicFramePr>
            <a:graphicFrameLocks noGrp="1"/>
          </p:cNvGraphicFramePr>
          <p:nvPr/>
        </p:nvGraphicFramePr>
        <p:xfrm>
          <a:off x="5742432" y="1938528"/>
          <a:ext cx="3054096" cy="2962656"/>
        </p:xfrm>
        <a:graphic>
          <a:graphicData uri="http://schemas.openxmlformats.org/drawingml/2006/table">
            <a:tbl>
              <a:tblPr/>
              <a:tblGrid>
                <a:gridCol w="1060704"/>
                <a:gridCol w="996696"/>
                <a:gridCol w="996696"/>
              </a:tblGrid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维度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原论文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本实验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任务规模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1谓+2规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7谓+5规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Collapse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不存在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完全解决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不平衡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均衡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AUC=0.832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特征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CNN图像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TF-IDF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评估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阈值0.5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Youden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规则满足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未报告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87.1%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数值稳定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无处理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全程稳定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5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3" name="Text 70"/>
          <p:cNvSpPr/>
          <p:nvPr/>
        </p:nvSpPr>
        <p:spPr>
          <a:xfrm>
            <a:off x="256032" y="4974336"/>
            <a:ext cx="8631936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核心贡献：在原论文无法直接适用的多标签、极端不平衡、多规则场景下，五项改进使 LTNtorch 成功落地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3" name="Shape 1"/>
          <p:cNvSpPr/>
          <p:nvPr/>
        </p:nvSpPr>
        <p:spPr>
          <a:xfrm>
            <a:off x="201168" y="384048"/>
            <a:ext cx="8759952" cy="4572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4" name="Text 2"/>
          <p:cNvSpPr/>
          <p:nvPr/>
        </p:nvSpPr>
        <p:spPr>
          <a:xfrm>
            <a:off x="438912" y="512064"/>
            <a:ext cx="841248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结论与展望</a:t>
            </a:r>
            <a:endParaRPr lang="en-US" sz="3400" dirty="0"/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438912" y="1417320"/>
            <a:ext cx="4133088" cy="1426464"/>
          </a:xfrm>
          <a:prstGeom prst="rect">
            <a:avLst/>
          </a:prstGeom>
          <a:solidFill>
            <a:srgbClr val="0D1F35"/>
          </a:solidFill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>
            <p:custDataLst>
              <p:tags r:id="rId2"/>
            </p:custDataLst>
          </p:nvPr>
        </p:nvSpPr>
        <p:spPr>
          <a:xfrm>
            <a:off x="438912" y="1417320"/>
            <a:ext cx="658368" cy="1426464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438912" y="1892808"/>
            <a:ext cx="658368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>
            <p:custDataLst>
              <p:tags r:id="rId4"/>
            </p:custDataLst>
          </p:nvPr>
        </p:nvSpPr>
        <p:spPr>
          <a:xfrm>
            <a:off x="1188720" y="1508760"/>
            <a:ext cx="3291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bg1"/>
                </a:solidFill>
              </a:rPr>
              <a:t>混合损失完全解决 Collapse</a:t>
            </a:r>
            <a:endParaRPr lang="en-US" sz="1150" b="1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>
            <p:custDataLst>
              <p:tags r:id="rId5"/>
            </p:custDataLst>
          </p:nvPr>
        </p:nvSpPr>
        <p:spPr>
          <a:xfrm>
            <a:off x="1188720" y="1819656"/>
            <a:ext cx="32918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α=0.3配置：50轮训练零坍塌、零NaN</a:t>
            </a:r>
            <a:endParaRPr lang="en-US" sz="9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7谓词均有判别性预测，Macro-F1=0.692</a:t>
            </a:r>
            <a:endParaRPr lang="en-US" sz="9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纯LTN方法在此场景根本不可行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>
            <p:custDataLst>
              <p:tags r:id="rId6"/>
            </p:custDataLst>
          </p:nvPr>
        </p:nvSpPr>
        <p:spPr>
          <a:xfrm>
            <a:off x="4754880" y="1417320"/>
            <a:ext cx="4133088" cy="1426464"/>
          </a:xfrm>
          <a:prstGeom prst="rect">
            <a:avLst/>
          </a:prstGeom>
          <a:solidFill>
            <a:srgbClr val="0D1F35"/>
          </a:solidFill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>
            <p:custDataLst>
              <p:tags r:id="rId7"/>
            </p:custDataLst>
          </p:nvPr>
        </p:nvSpPr>
        <p:spPr>
          <a:xfrm>
            <a:off x="4754880" y="1417320"/>
            <a:ext cx="658368" cy="1426464"/>
          </a:xfrm>
          <a:prstGeom prst="rect">
            <a:avLst/>
          </a:prstGeom>
          <a:solidFill>
            <a:srgbClr val="1D4ED8"/>
          </a:solidFill>
        </p:spPr>
      </p:sp>
      <p:sp>
        <p:nvSpPr>
          <p:cNvPr id="12" name="Text 10"/>
          <p:cNvSpPr/>
          <p:nvPr>
            <p:custDataLst>
              <p:tags r:id="rId8"/>
            </p:custDataLst>
          </p:nvPr>
        </p:nvSpPr>
        <p:spPr>
          <a:xfrm>
            <a:off x="4754880" y="1892808"/>
            <a:ext cx="658368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>
            <p:custDataLst>
              <p:tags r:id="rId9"/>
            </p:custDataLst>
          </p:nvPr>
        </p:nvSpPr>
        <p:spPr>
          <a:xfrm>
            <a:off x="5504688" y="1508760"/>
            <a:ext cx="3291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bg1"/>
                </a:solidFill>
              </a:rPr>
              <a:t>TF-IDF 对符号级任务高效</a:t>
            </a:r>
            <a:endParaRPr lang="en-US" sz="1150" b="1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>
            <p:custDataLst>
              <p:tags r:id="rId10"/>
            </p:custDataLst>
          </p:nvPr>
        </p:nvSpPr>
        <p:spPr>
          <a:xfrm>
            <a:off x="5504688" y="1819656"/>
            <a:ext cx="32918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4个符号直接可分谓词 AUC≥0.977</a:t>
            </a:r>
            <a:endParaRPr lang="en-US" sz="9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empty &amp; setrel 达完美 AUC=1.000</a:t>
            </a:r>
            <a:endParaRPr lang="en-US" sz="9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验证特征工程方案的有效性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5" name="Shape 13"/>
          <p:cNvSpPr/>
          <p:nvPr>
            <p:custDataLst>
              <p:tags r:id="rId11"/>
            </p:custDataLst>
          </p:nvPr>
        </p:nvSpPr>
        <p:spPr>
          <a:xfrm>
            <a:off x="438912" y="2990088"/>
            <a:ext cx="4133088" cy="1426464"/>
          </a:xfrm>
          <a:prstGeom prst="rect">
            <a:avLst/>
          </a:prstGeom>
          <a:solidFill>
            <a:srgbClr val="0D1F35"/>
          </a:solidFill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>
            <p:custDataLst>
              <p:tags r:id="rId12"/>
            </p:custDataLst>
          </p:nvPr>
        </p:nvSpPr>
        <p:spPr>
          <a:xfrm>
            <a:off x="438912" y="2990088"/>
            <a:ext cx="658368" cy="1426464"/>
          </a:xfrm>
          <a:prstGeom prst="rect">
            <a:avLst/>
          </a:prstGeom>
          <a:solidFill>
            <a:srgbClr val="15803D"/>
          </a:solidFill>
        </p:spPr>
      </p:sp>
      <p:sp>
        <p:nvSpPr>
          <p:cNvPr id="17" name="Text 15"/>
          <p:cNvSpPr/>
          <p:nvPr>
            <p:custDataLst>
              <p:tags r:id="rId13"/>
            </p:custDataLst>
          </p:nvPr>
        </p:nvSpPr>
        <p:spPr>
          <a:xfrm>
            <a:off x="438912" y="3465576"/>
            <a:ext cx="658368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>
            <p:custDataLst>
              <p:tags r:id="rId14"/>
            </p:custDataLst>
          </p:nvPr>
        </p:nvSpPr>
        <p:spPr>
          <a:xfrm>
            <a:off x="1188720" y="3081528"/>
            <a:ext cx="3291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bg1"/>
                </a:solidFill>
              </a:rPr>
              <a:t>逻辑规则被神经网络有效内化</a:t>
            </a:r>
            <a:endParaRPr lang="en-US" sz="1150" b="1" dirty="0">
              <a:solidFill>
                <a:schemeClr val="bg1"/>
              </a:solidFill>
            </a:endParaRPr>
          </a:p>
        </p:txBody>
      </p:sp>
      <p:sp>
        <p:nvSpPr>
          <p:cNvPr id="19" name="Text 17"/>
          <p:cNvSpPr/>
          <p:nvPr>
            <p:custDataLst>
              <p:tags r:id="rId15"/>
            </p:custDataLst>
          </p:nvPr>
        </p:nvSpPr>
        <p:spPr>
          <a:xfrm>
            <a:off x="1188720" y="3392424"/>
            <a:ext cx="32918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ltn_sat=87.1%，显著高于随机基准</a:t>
            </a:r>
            <a:endParaRPr lang="en-US" sz="9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R3（数学必然）=0.993，R5（互斥）=0.942</a:t>
            </a:r>
            <a:endParaRPr lang="en-US" sz="9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神经符号框架知识驱动学习成立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0" name="Shape 18"/>
          <p:cNvSpPr/>
          <p:nvPr>
            <p:custDataLst>
              <p:tags r:id="rId16"/>
            </p:custDataLst>
          </p:nvPr>
        </p:nvSpPr>
        <p:spPr>
          <a:xfrm>
            <a:off x="4754880" y="2990088"/>
            <a:ext cx="4133088" cy="1426464"/>
          </a:xfrm>
          <a:prstGeom prst="rect">
            <a:avLst/>
          </a:prstGeom>
          <a:solidFill>
            <a:srgbClr val="0D1F35"/>
          </a:solidFill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>
            <p:custDataLst>
              <p:tags r:id="rId17"/>
            </p:custDataLst>
          </p:nvPr>
        </p:nvSpPr>
        <p:spPr>
          <a:xfrm>
            <a:off x="4754880" y="2990088"/>
            <a:ext cx="658368" cy="1426464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22" name="Text 20"/>
          <p:cNvSpPr/>
          <p:nvPr>
            <p:custDataLst>
              <p:tags r:id="rId18"/>
            </p:custDataLst>
          </p:nvPr>
        </p:nvSpPr>
        <p:spPr>
          <a:xfrm>
            <a:off x="4754880" y="3465576"/>
            <a:ext cx="658368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>
            <p:custDataLst>
              <p:tags r:id="rId19"/>
            </p:custDataLst>
          </p:nvPr>
        </p:nvSpPr>
        <p:spPr>
          <a:xfrm>
            <a:off x="5504688" y="3081528"/>
            <a:ext cx="3291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bg1"/>
                </a:solidFill>
              </a:rPr>
              <a:t>主要局限与未来方向</a:t>
            </a:r>
            <a:endParaRPr lang="en-US" sz="1150" b="1" dirty="0">
              <a:solidFill>
                <a:schemeClr val="bg1"/>
              </a:solidFill>
            </a:endParaRPr>
          </a:p>
        </p:txBody>
      </p:sp>
      <p:sp>
        <p:nvSpPr>
          <p:cNvPr id="24" name="Text 22"/>
          <p:cNvSpPr/>
          <p:nvPr>
            <p:custDataLst>
              <p:tags r:id="rId20"/>
            </p:custDataLst>
          </p:nvPr>
        </p:nvSpPr>
        <p:spPr>
          <a:xfrm>
            <a:off x="5504688" y="3392424"/>
            <a:ext cx="32918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• definition AUC=0.584（特征不足→GNN/Tree-LSTM）</a:t>
            </a:r>
            <a:endParaRPr lang="en-US" sz="9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• commut F1极低（7正例→数据增强）</a:t>
            </a:r>
            <a:endParaRPr lang="en-US" sz="9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• R4弱先验→自动规则归纳（ILP）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438912" y="4828032"/>
            <a:ext cx="84124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</a:rPr>
              <a:t>参考文献：[1] Badreddine et al. 2022 AI  [2] Carraro et al. 2024 JMLR  [3] van Krieken et al. 2022 AI</a:t>
            </a:r>
            <a:endParaRPr lang="en-US" sz="850" dirty="0"/>
          </a:p>
        </p:txBody>
      </p:sp>
      <p:pic>
        <p:nvPicPr>
          <p:cNvPr id="75" name="图片 74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535430" y="2009775"/>
            <a:ext cx="6072505" cy="11239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DIAGRAM_VIRTUALLY_FRAME" val="{&quot;height&quot;:236.16000000000003,&quot;left&quot;:34.56,&quot;top&quot;:111.6,&quot;width&quot;:665.28}"/>
</p:tagLst>
</file>

<file path=ppt/tags/tag2.xml><?xml version="1.0" encoding="utf-8"?>
<p:tagLst xmlns:p="http://schemas.openxmlformats.org/presentationml/2006/main">
  <p:tag name="KSO_WM_DIAGRAM_VIRTUALLY_FRAME" val="{&quot;height&quot;:236.16000000000003,&quot;left&quot;:34.56,&quot;top&quot;:111.6,&quot;width&quot;:665.28}"/>
</p:tagLst>
</file>

<file path=ppt/tags/tag3.xml><?xml version="1.0" encoding="utf-8"?>
<p:tagLst xmlns:p="http://schemas.openxmlformats.org/presentationml/2006/main">
  <p:tag name="KSO_WM_DIAGRAM_VIRTUALLY_FRAME" val="{&quot;height&quot;:236.16000000000003,&quot;left&quot;:34.56,&quot;top&quot;:111.6,&quot;width&quot;:665.28}"/>
</p:tagLst>
</file>

<file path=ppt/tags/tag4.xml><?xml version="1.0" encoding="utf-8"?>
<p:tagLst xmlns:p="http://schemas.openxmlformats.org/presentationml/2006/main">
  <p:tag name="KSO_WM_DIAGRAM_VIRTUALLY_FRAME" val="{&quot;height&quot;:236.16000000000003,&quot;left&quot;:34.56,&quot;top&quot;:111.6,&quot;width&quot;:665.28}"/>
</p:tagLst>
</file>

<file path=ppt/tags/tag5.xml><?xml version="1.0" encoding="utf-8"?>
<p:tagLst xmlns:p="http://schemas.openxmlformats.org/presentationml/2006/main">
  <p:tag name="KSO_WM_DIAGRAM_VIRTUALLY_FRAME" val="{&quot;height&quot;:236.16000000000003,&quot;left&quot;:34.56,&quot;top&quot;:111.6,&quot;width&quot;:665.28}"/>
</p:tagLst>
</file>

<file path=ppt/tags/tag6.xml><?xml version="1.0" encoding="utf-8"?>
<p:tagLst xmlns:p="http://schemas.openxmlformats.org/presentationml/2006/main">
  <p:tag name="KSO_WM_DIAGRAM_VIRTUALLY_FRAME" val="{&quot;height&quot;:236.16000000000003,&quot;left&quot;:34.56,&quot;top&quot;:111.6,&quot;width&quot;:665.28}"/>
</p:tagLst>
</file>

<file path=ppt/tags/tag7.xml><?xml version="1.0" encoding="utf-8"?>
<p:tagLst xmlns:p="http://schemas.openxmlformats.org/presentationml/2006/main">
  <p:tag name="KSO_WM_DIAGRAM_VIRTUALLY_FRAME" val="{&quot;height&quot;:236.16000000000003,&quot;left&quot;:34.56,&quot;top&quot;:111.6,&quot;width&quot;:665.28}"/>
</p:tagLst>
</file>

<file path=ppt/tags/tag8.xml><?xml version="1.0" encoding="utf-8"?>
<p:tagLst xmlns:p="http://schemas.openxmlformats.org/presentationml/2006/main">
  <p:tag name="KSO_WM_DIAGRAM_VIRTUALLY_FRAME" val="{&quot;height&quot;:236.16000000000003,&quot;left&quot;:34.56,&quot;top&quot;:111.6,&quot;width&quot;:665.28}"/>
</p:tagLst>
</file>

<file path=ppt/tags/tag9.xml><?xml version="1.0" encoding="utf-8"?>
<p:tagLst xmlns:p="http://schemas.openxmlformats.org/presentationml/2006/main">
  <p:tag name="KSO_WM_DIAGRAM_VIRTUALLY_FRAME" val="{&quot;height&quot;:236.16000000000003,&quot;left&quot;:34.56,&quot;top&quot;:111.6,&quot;width&quot;:665.28}"/>
</p:tagLst>
</file>

<file path=ppt/tags/tag10.xml><?xml version="1.0" encoding="utf-8"?>
<p:tagLst xmlns:p="http://schemas.openxmlformats.org/presentationml/2006/main">
  <p:tag name="KSO_WM_DIAGRAM_VIRTUALLY_FRAME" val="{&quot;height&quot;:236.16000000000003,&quot;left&quot;:34.56,&quot;top&quot;:111.6,&quot;width&quot;:665.28}"/>
</p:tagLst>
</file>

<file path=ppt/tags/tag11.xml><?xml version="1.0" encoding="utf-8"?>
<p:tagLst xmlns:p="http://schemas.openxmlformats.org/presentationml/2006/main">
  <p:tag name="KSO_WM_DIAGRAM_VIRTUALLY_FRAME" val="{&quot;height&quot;:236.16000000000003,&quot;left&quot;:34.56,&quot;top&quot;:111.6,&quot;width&quot;:665.28}"/>
</p:tagLst>
</file>

<file path=ppt/tags/tag12.xml><?xml version="1.0" encoding="utf-8"?>
<p:tagLst xmlns:p="http://schemas.openxmlformats.org/presentationml/2006/main">
  <p:tag name="KSO_WM_DIAGRAM_VIRTUALLY_FRAME" val="{&quot;height&quot;:236.16000000000003,&quot;left&quot;:34.56,&quot;top&quot;:111.6,&quot;width&quot;:665.28}"/>
</p:tagLst>
</file>

<file path=ppt/tags/tag13.xml><?xml version="1.0" encoding="utf-8"?>
<p:tagLst xmlns:p="http://schemas.openxmlformats.org/presentationml/2006/main">
  <p:tag name="KSO_WM_DIAGRAM_VIRTUALLY_FRAME" val="{&quot;height&quot;:236.16000000000003,&quot;left&quot;:34.56,&quot;top&quot;:111.6,&quot;width&quot;:665.28}"/>
</p:tagLst>
</file>

<file path=ppt/tags/tag14.xml><?xml version="1.0" encoding="utf-8"?>
<p:tagLst xmlns:p="http://schemas.openxmlformats.org/presentationml/2006/main">
  <p:tag name="KSO_WM_DIAGRAM_VIRTUALLY_FRAME" val="{&quot;height&quot;:236.16000000000003,&quot;left&quot;:34.56,&quot;top&quot;:111.6,&quot;width&quot;:665.28}"/>
</p:tagLst>
</file>

<file path=ppt/tags/tag15.xml><?xml version="1.0" encoding="utf-8"?>
<p:tagLst xmlns:p="http://schemas.openxmlformats.org/presentationml/2006/main">
  <p:tag name="KSO_WM_DIAGRAM_VIRTUALLY_FRAME" val="{&quot;height&quot;:236.16000000000003,&quot;left&quot;:34.56,&quot;top&quot;:111.6,&quot;width&quot;:665.28}"/>
</p:tagLst>
</file>

<file path=ppt/tags/tag16.xml><?xml version="1.0" encoding="utf-8"?>
<p:tagLst xmlns:p="http://schemas.openxmlformats.org/presentationml/2006/main">
  <p:tag name="KSO_WM_DIAGRAM_VIRTUALLY_FRAME" val="{&quot;height&quot;:236.16000000000003,&quot;left&quot;:34.56,&quot;top&quot;:111.6,&quot;width&quot;:665.28}"/>
</p:tagLst>
</file>

<file path=ppt/tags/tag17.xml><?xml version="1.0" encoding="utf-8"?>
<p:tagLst xmlns:p="http://schemas.openxmlformats.org/presentationml/2006/main">
  <p:tag name="KSO_WM_DIAGRAM_VIRTUALLY_FRAME" val="{&quot;height&quot;:236.16000000000003,&quot;left&quot;:34.56,&quot;top&quot;:111.6,&quot;width&quot;:665.28}"/>
</p:tagLst>
</file>

<file path=ppt/tags/tag18.xml><?xml version="1.0" encoding="utf-8"?>
<p:tagLst xmlns:p="http://schemas.openxmlformats.org/presentationml/2006/main">
  <p:tag name="KSO_WM_DIAGRAM_VIRTUALLY_FRAME" val="{&quot;height&quot;:236.16000000000003,&quot;left&quot;:34.56,&quot;top&quot;:111.6,&quot;width&quot;:665.28}"/>
</p:tagLst>
</file>

<file path=ppt/tags/tag19.xml><?xml version="1.0" encoding="utf-8"?>
<p:tagLst xmlns:p="http://schemas.openxmlformats.org/presentationml/2006/main">
  <p:tag name="KSO_WM_DIAGRAM_VIRTUALLY_FRAME" val="{&quot;height&quot;:236.16000000000003,&quot;left&quot;:34.56,&quot;top&quot;:111.6,&quot;width&quot;:665.28}"/>
</p:tagLst>
</file>

<file path=ppt/tags/tag20.xml><?xml version="1.0" encoding="utf-8"?>
<p:tagLst xmlns:p="http://schemas.openxmlformats.org/presentationml/2006/main">
  <p:tag name="KSO_WM_DIAGRAM_VIRTUALLY_FRAME" val="{&quot;height&quot;:236.16000000000003,&quot;left&quot;:34.56,&quot;top&quot;:111.6,&quot;width&quot;:665.2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4619</Words>
  <Application>WPS 演示</Application>
  <PresentationFormat>On-screen Show (16:9)</PresentationFormat>
  <Paragraphs>752</Paragraphs>
  <Slides>11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7" baseType="lpstr">
      <vt:lpstr>Arial</vt:lpstr>
      <vt:lpstr>宋体</vt:lpstr>
      <vt:lpstr>Wingdings</vt:lpstr>
      <vt:lpstr>Georgia</vt:lpstr>
      <vt:lpstr>Georgia</vt:lpstr>
      <vt:lpstr>Georgia</vt:lpstr>
      <vt:lpstr>Consolas</vt:lpstr>
      <vt:lpstr>Consolas</vt:lpstr>
      <vt:lpstr>Consolas</vt:lpstr>
      <vt:lpstr>Arial</vt:lpstr>
      <vt:lpstr>Calibri</vt:lpstr>
      <vt:lpstr>微软雅黑</vt:lpstr>
      <vt:lpstr>Arial Unicode MS</vt:lpstr>
      <vt:lpstr>等线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WPS_1669272209</cp:lastModifiedBy>
  <cp:revision>4</cp:revision>
  <dcterms:created xsi:type="dcterms:W3CDTF">2026-05-31T15:02:00Z</dcterms:created>
  <dcterms:modified xsi:type="dcterms:W3CDTF">2026-06-01T07:06:39Z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61B8EB0695F44D969029DC42CA4CC1AD_13</vt:lpwstr>
  </property>
</Properties>
</file>