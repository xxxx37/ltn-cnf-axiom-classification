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920240"/>
          </a:xfrm>
          <a:prstGeom prst="rect">
            <a:avLst/>
          </a:prstGeom>
          <a:solidFill>
            <a:srgbClr val="1B3A6B"/>
          </a:solidFill>
        </p:spPr>
      </p:sp>
      <p:sp>
        <p:nvSpPr>
          <p:cNvPr id="3" name="Shape 1"/>
          <p:cNvSpPr/>
          <p:nvPr/>
        </p:nvSpPr>
        <p:spPr>
          <a:xfrm>
            <a:off x="7315200" y="-822960"/>
            <a:ext cx="2926080" cy="2926080"/>
          </a:xfrm>
          <a:prstGeom prst="ellipse">
            <a:avLst/>
          </a:prstGeom>
          <a:solidFill>
            <a:srgbClr val="243F70">
              <a:alpha val="6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7955280" y="-182880"/>
            <a:ext cx="1645920" cy="1645920"/>
          </a:xfrm>
          <a:prstGeom prst="ellipse">
            <a:avLst/>
          </a:prstGeom>
          <a:solidFill>
            <a:srgbClr val="3B82C4">
              <a:alpha val="5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DBEAFE"/>
          </a:solidFill>
        </p:spPr>
      </p:sp>
      <p:sp>
        <p:nvSpPr>
          <p:cNvPr id="6" name="Text 4"/>
          <p:cNvSpPr/>
          <p:nvPr/>
        </p:nvSpPr>
        <p:spPr>
          <a:xfrm>
            <a:off x="502920" y="109728"/>
            <a:ext cx="68580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LTNtorch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841248"/>
            <a:ext cx="713232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ACC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PyTorch Implementation of Logic Tensor Networks</a:t>
            </a:r>
            <a:endParaRPr lang="en-US" sz="1800" dirty="0">
              <a:solidFill>
                <a:srgbClr val="AACCE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AACC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LTNtorch：逻辑张量网络的 PyTorch 实现</a:t>
            </a:r>
            <a:endParaRPr lang="en-US" sz="1800" dirty="0">
              <a:solidFill>
                <a:srgbClr val="AACCE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5303520" cy="1481328"/>
          </a:xfrm>
          <a:prstGeom prst="rect">
            <a:avLst/>
          </a:prstGeom>
          <a:solidFill>
            <a:srgbClr val="F7FAFF"/>
          </a:solidFill>
          <a:ln w="12700">
            <a:solidFill>
              <a:srgbClr val="93C5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084832"/>
            <a:ext cx="64008" cy="1481328"/>
          </a:xfrm>
          <a:prstGeom prst="rect">
            <a:avLst/>
          </a:prstGeom>
          <a:solidFill>
            <a:srgbClr val="3B82C4"/>
          </a:solidFill>
        </p:spPr>
      </p:sp>
      <p:sp>
        <p:nvSpPr>
          <p:cNvPr id="10" name="Text 8"/>
          <p:cNvSpPr/>
          <p:nvPr/>
        </p:nvSpPr>
        <p:spPr>
          <a:xfrm>
            <a:off x="685800" y="2121408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A7E"/>
                </a:solidFill>
              </a:rPr>
              <a:t>作者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395728"/>
            <a:ext cx="4937760" cy="10789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Tommaso Carraro</a:t>
            </a:r>
            <a:r>
              <a:rPr lang="en-US" sz="1200" dirty="0">
                <a:solidFill>
                  <a:srgbClr val="1E2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·  University of Padova / FBK
</a:t>
            </a:r>
            <a:r>
              <a:rPr lang="en-US" sz="1200" b="1" dirty="0">
                <a:solidFill>
                  <a:srgbClr val="1B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Luciano Serafini</a:t>
            </a:r>
            <a:r>
              <a:rPr lang="en-US" sz="1200" dirty="0">
                <a:solidFill>
                  <a:srgbClr val="1E2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·  Fondazione Bruno Kessler
</a:t>
            </a:r>
            <a:r>
              <a:rPr lang="en-US" sz="1200" b="1" dirty="0">
                <a:solidFill>
                  <a:srgbClr val="1B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Fabio Aiolli</a:t>
            </a:r>
            <a:r>
              <a:rPr lang="en-US" sz="1200" dirty="0">
                <a:solidFill>
                  <a:srgbClr val="1E2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·  University of Padova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703320"/>
            <a:ext cx="3200400" cy="411480"/>
          </a:xfrm>
          <a:prstGeom prst="roundRect">
            <a:avLst>
              <a:gd name="adj" fmla="val 13333"/>
            </a:avLst>
          </a:prstGeom>
          <a:solidFill>
            <a:srgbClr val="3B82C4"/>
          </a:solidFill>
        </p:spPr>
      </p:sp>
      <p:sp>
        <p:nvSpPr>
          <p:cNvPr id="13" name="Text 11"/>
          <p:cNvSpPr/>
          <p:nvPr/>
        </p:nvSpPr>
        <p:spPr>
          <a:xfrm>
            <a:off x="502920" y="3703320"/>
            <a:ext cx="3200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JMLR 25 (2024)  ·  arXiv:2409.16045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0" y="2121408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121408"/>
            <a:ext cx="2377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6B"/>
                </a:solidFill>
              </a:rPr>
              <a:t>神经符号集成  NeSy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92240" y="2615184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615184"/>
            <a:ext cx="2377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6B"/>
                </a:solidFill>
              </a:rPr>
              <a:t>逻辑张量网络  LTN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310896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108960"/>
            <a:ext cx="2377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6B"/>
                </a:solidFill>
              </a:rPr>
              <a:t>模糊逻辑  Fuzzy Logic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3602736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602736"/>
            <a:ext cx="2377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6B"/>
                </a:solidFill>
              </a:rPr>
              <a:t>PyTorch框架  Framework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434840"/>
            <a:ext cx="7315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63A8"/>
                </a:solidFill>
              </a:rPr>
              <a:t>🔗  github.com/tommasocarraro/LTNtorch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</p:spPr>
      </p:sp>
      <p:sp>
        <p:nvSpPr>
          <p:cNvPr id="3" name="Text 1"/>
          <p:cNvSpPr/>
          <p:nvPr/>
        </p:nvSpPr>
        <p:spPr>
          <a:xfrm>
            <a:off x="347472" y="0"/>
            <a:ext cx="85953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目录  Outline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4206240" cy="822960"/>
          </a:xfrm>
          <a:prstGeom prst="rect">
            <a:avLst/>
          </a:prstGeom>
          <a:solidFill>
            <a:srgbClr val="F7FAFF"/>
          </a:solidFill>
          <a:ln w="12700">
            <a:solidFill>
              <a:srgbClr val="CDD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96112"/>
            <a:ext cx="64008" cy="822960"/>
          </a:xfrm>
          <a:prstGeom prst="rect">
            <a:avLst/>
          </a:prstGeom>
          <a:solidFill>
            <a:srgbClr val="3B82C4"/>
          </a:solidFill>
        </p:spPr>
      </p:sp>
      <p:sp>
        <p:nvSpPr>
          <p:cNvPr id="6" name="Text 4"/>
          <p:cNvSpPr/>
          <p:nvPr/>
        </p:nvSpPr>
        <p:spPr>
          <a:xfrm>
            <a:off x="484632" y="950976"/>
            <a:ext cx="502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950976"/>
            <a:ext cx="3438144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研究背景与动机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298448"/>
            <a:ext cx="34381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</a:rPr>
              <a:t>神经网络 vs 符号AI 的融合挑战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82312" y="896112"/>
            <a:ext cx="4206240" cy="822960"/>
          </a:xfrm>
          <a:prstGeom prst="rect">
            <a:avLst/>
          </a:prstGeom>
          <a:solidFill>
            <a:srgbClr val="F7FAFF"/>
          </a:solidFill>
          <a:ln w="12700">
            <a:solidFill>
              <a:srgbClr val="CDD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2312" y="896112"/>
            <a:ext cx="64008" cy="822960"/>
          </a:xfrm>
          <a:prstGeom prst="rect">
            <a:avLst/>
          </a:prstGeom>
          <a:solidFill>
            <a:srgbClr val="3B82C4"/>
          </a:solidFill>
        </p:spPr>
      </p:sp>
      <p:sp>
        <p:nvSpPr>
          <p:cNvPr id="11" name="Text 9"/>
          <p:cNvSpPr/>
          <p:nvPr/>
        </p:nvSpPr>
        <p:spPr>
          <a:xfrm>
            <a:off x="4946904" y="950976"/>
            <a:ext cx="502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68112" y="950976"/>
            <a:ext cx="3438144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核心语言：Real Logic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68112" y="1298448"/>
            <a:ext cx="34381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</a:rPr>
              <a:t>常量 · 变量 · 函数 · 谓词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883664"/>
            <a:ext cx="4206240" cy="822960"/>
          </a:xfrm>
          <a:prstGeom prst="rect">
            <a:avLst/>
          </a:prstGeom>
          <a:solidFill>
            <a:srgbClr val="F7FAFF"/>
          </a:solidFill>
          <a:ln w="12700">
            <a:solidFill>
              <a:srgbClr val="CDD8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883664"/>
            <a:ext cx="64008" cy="822960"/>
          </a:xfrm>
          <a:prstGeom prst="rect">
            <a:avLst/>
          </a:prstGeom>
          <a:solidFill>
            <a:srgbClr val="3B82C4"/>
          </a:solidFill>
        </p:spPr>
      </p:sp>
      <p:sp>
        <p:nvSpPr>
          <p:cNvPr id="16" name="Text 14"/>
          <p:cNvSpPr/>
          <p:nvPr/>
        </p:nvSpPr>
        <p:spPr>
          <a:xfrm>
            <a:off x="484632" y="1938528"/>
            <a:ext cx="502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1938528"/>
            <a:ext cx="3438144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Grounding 接地机制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286000"/>
            <a:ext cx="34381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</a:rPr>
              <a:t>符号 → 实数张量的映射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82312" y="1883664"/>
            <a:ext cx="4206240" cy="822960"/>
          </a:xfrm>
          <a:prstGeom prst="rect">
            <a:avLst/>
          </a:prstGeom>
          <a:solidFill>
            <a:srgbClr val="F7FAFF"/>
          </a:solidFill>
          <a:ln w="12700">
            <a:solidFill>
              <a:srgbClr val="CDD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82312" y="1883664"/>
            <a:ext cx="64008" cy="822960"/>
          </a:xfrm>
          <a:prstGeom prst="rect">
            <a:avLst/>
          </a:prstGeom>
          <a:solidFill>
            <a:srgbClr val="3B82C4"/>
          </a:solidFill>
        </p:spPr>
      </p:sp>
      <p:sp>
        <p:nvSpPr>
          <p:cNvPr id="21" name="Text 19"/>
          <p:cNvSpPr/>
          <p:nvPr/>
        </p:nvSpPr>
        <p:spPr>
          <a:xfrm>
            <a:off x="4946904" y="1938528"/>
            <a:ext cx="502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68112" y="1938528"/>
            <a:ext cx="3438144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模糊逻辑语义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68112" y="2286000"/>
            <a:ext cx="34381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</a:rPr>
              <a:t>算子公式 · 量词聚合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871216"/>
            <a:ext cx="4206240" cy="822960"/>
          </a:xfrm>
          <a:prstGeom prst="rect">
            <a:avLst/>
          </a:prstGeom>
          <a:solidFill>
            <a:srgbClr val="F7FAFF"/>
          </a:solidFill>
          <a:ln w="12700">
            <a:solidFill>
              <a:srgbClr val="CD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871216"/>
            <a:ext cx="64008" cy="822960"/>
          </a:xfrm>
          <a:prstGeom prst="rect">
            <a:avLst/>
          </a:prstGeom>
          <a:solidFill>
            <a:srgbClr val="3B82C4"/>
          </a:solidFill>
        </p:spPr>
      </p:sp>
      <p:sp>
        <p:nvSpPr>
          <p:cNvPr id="26" name="Text 24"/>
          <p:cNvSpPr/>
          <p:nvPr/>
        </p:nvSpPr>
        <p:spPr>
          <a:xfrm>
            <a:off x="484632" y="2926080"/>
            <a:ext cx="502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5840" y="2926080"/>
            <a:ext cx="3438144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逐步计算示例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3273552"/>
            <a:ext cx="34381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</a:rPr>
              <a:t>∀x∃y P(x,y)∧Q(y) 全流程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82312" y="2871216"/>
            <a:ext cx="4206240" cy="822960"/>
          </a:xfrm>
          <a:prstGeom prst="rect">
            <a:avLst/>
          </a:prstGeom>
          <a:solidFill>
            <a:srgbClr val="F7FAFF"/>
          </a:solidFill>
          <a:ln w="12700">
            <a:solidFill>
              <a:srgbClr val="CDD8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82312" y="2871216"/>
            <a:ext cx="64008" cy="822960"/>
          </a:xfrm>
          <a:prstGeom prst="rect">
            <a:avLst/>
          </a:prstGeom>
          <a:solidFill>
            <a:srgbClr val="3B82C4"/>
          </a:solidFill>
        </p:spPr>
      </p:sp>
      <p:sp>
        <p:nvSpPr>
          <p:cNvPr id="31" name="Text 29"/>
          <p:cNvSpPr/>
          <p:nvPr/>
        </p:nvSpPr>
        <p:spPr>
          <a:xfrm>
            <a:off x="4946904" y="2926080"/>
            <a:ext cx="502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68112" y="2926080"/>
            <a:ext cx="3438144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学习机制与训练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68112" y="3273552"/>
            <a:ext cx="34381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</a:rPr>
              <a:t>知识库 → 损失函数 → 反向传播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3858768"/>
            <a:ext cx="4206240" cy="822960"/>
          </a:xfrm>
          <a:prstGeom prst="rect">
            <a:avLst/>
          </a:prstGeom>
          <a:solidFill>
            <a:srgbClr val="F7FAFF"/>
          </a:solidFill>
          <a:ln w="12700">
            <a:solidFill>
              <a:srgbClr val="CDD8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858768"/>
            <a:ext cx="64008" cy="822960"/>
          </a:xfrm>
          <a:prstGeom prst="rect">
            <a:avLst/>
          </a:prstGeom>
          <a:solidFill>
            <a:srgbClr val="3B82C4"/>
          </a:solidFill>
        </p:spPr>
      </p:sp>
      <p:sp>
        <p:nvSpPr>
          <p:cNvPr id="36" name="Text 34"/>
          <p:cNvSpPr/>
          <p:nvPr/>
        </p:nvSpPr>
        <p:spPr>
          <a:xfrm>
            <a:off x="484632" y="3913632"/>
            <a:ext cx="502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005840" y="3913632"/>
            <a:ext cx="3438144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猫狗分类案例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05840" y="4261104"/>
            <a:ext cx="34381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</a:rPr>
              <a:t>LTN 计算图 · PyTorch 代码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82312" y="3858768"/>
            <a:ext cx="4206240" cy="822960"/>
          </a:xfrm>
          <a:prstGeom prst="rect">
            <a:avLst/>
          </a:prstGeom>
          <a:solidFill>
            <a:srgbClr val="F7FAFF"/>
          </a:solidFill>
          <a:ln w="12700">
            <a:solidFill>
              <a:srgbClr val="CDD8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82312" y="3858768"/>
            <a:ext cx="64008" cy="822960"/>
          </a:xfrm>
          <a:prstGeom prst="rect">
            <a:avLst/>
          </a:prstGeom>
          <a:solidFill>
            <a:srgbClr val="3B82C4"/>
          </a:solidFill>
        </p:spPr>
      </p:sp>
      <p:sp>
        <p:nvSpPr>
          <p:cNvPr id="41" name="Text 39"/>
          <p:cNvSpPr/>
          <p:nvPr/>
        </p:nvSpPr>
        <p:spPr>
          <a:xfrm>
            <a:off x="4946904" y="3913632"/>
            <a:ext cx="502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468112" y="3913632"/>
            <a:ext cx="3438144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总结与意义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68112" y="4261104"/>
            <a:ext cx="34381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</a:rPr>
              <a:t>贡献 · 与 SBR 对比 · 展望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</p:spPr>
      </p:sp>
      <p:sp>
        <p:nvSpPr>
          <p:cNvPr id="3" name="Text 1"/>
          <p:cNvSpPr/>
          <p:nvPr/>
        </p:nvSpPr>
        <p:spPr>
          <a:xfrm>
            <a:off x="347472" y="0"/>
            <a:ext cx="85953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研究背景与动机：神经符号集成 (NeSy)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503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如何让神经网络「理解」逻辑规则？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2651760" cy="310896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61872"/>
            <a:ext cx="2651760" cy="420624"/>
          </a:xfrm>
          <a:prstGeom prst="rect">
            <a:avLst/>
          </a:prstGeom>
          <a:solidFill>
            <a:srgbClr val="2563A8"/>
          </a:solidFill>
        </p:spPr>
      </p:sp>
      <p:sp>
        <p:nvSpPr>
          <p:cNvPr id="7" name="Text 5"/>
          <p:cNvSpPr/>
          <p:nvPr/>
        </p:nvSpPr>
        <p:spPr>
          <a:xfrm>
            <a:off x="320040" y="1261872"/>
            <a:ext cx="26517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神经网络 / Deep Learning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</a:rPr>
              <a:t>✅  处理噪声强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</a:rPr>
              <a:t>✅  图像/语音效果好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33472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</a:rPr>
              <a:t>❌  需要大量标注数据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072384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</a:rPr>
              <a:t>❌  黑盒，不可解释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511296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</a:rPr>
              <a:t>❌  难以利用先验规则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261872"/>
            <a:ext cx="2651760" cy="3108960"/>
          </a:xfrm>
          <a:prstGeom prst="rect">
            <a:avLst/>
          </a:prstGeom>
          <a:solidFill>
            <a:srgbClr val="FFF7ED"/>
          </a:solidFill>
          <a:ln w="12700">
            <a:solidFill>
              <a:srgbClr val="C2530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261872"/>
            <a:ext cx="2651760" cy="420624"/>
          </a:xfrm>
          <a:prstGeom prst="rect">
            <a:avLst/>
          </a:prstGeom>
          <a:solidFill>
            <a:srgbClr val="C2530A"/>
          </a:solidFill>
        </p:spPr>
      </p:sp>
      <p:sp>
        <p:nvSpPr>
          <p:cNvPr id="15" name="Text 13"/>
          <p:cNvSpPr/>
          <p:nvPr/>
        </p:nvSpPr>
        <p:spPr>
          <a:xfrm>
            <a:off x="6172200" y="1261872"/>
            <a:ext cx="26517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符号AI / Symbolic AI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1755648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</a:rPr>
              <a:t>✅  少样本/零样本学习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219456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</a:rPr>
              <a:t>✅  逻辑规则天然可解释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2633472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</a:rPr>
              <a:t>❌  难以处理噪声数据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3072384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</a:rPr>
              <a:t>❌  无法学习连续特征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3511296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</a:rPr>
              <a:t>❌  规则覆盖不全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46120" y="1554480"/>
            <a:ext cx="2651760" cy="2377440"/>
          </a:xfrm>
          <a:prstGeom prst="rect">
            <a:avLst/>
          </a:prstGeom>
          <a:solidFill>
            <a:srgbClr val="1B3A6B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46120" y="1664208"/>
            <a:ext cx="2651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LTN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246120" y="2267712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ACCEE"/>
                </a:solidFill>
              </a:rPr>
              <a:t>Logic Tensor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ACCEE"/>
                </a:solidFill>
              </a:rPr>
              <a:t>Networks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2852928"/>
            <a:ext cx="25603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BEAFE"/>
                </a:solidFill>
              </a:rPr>
              <a:t>逻辑公式  →  损失函数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BEAFE"/>
                </a:solidFill>
              </a:rPr>
              <a:t>梯度下降  →  神经网络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971800" y="2606040"/>
            <a:ext cx="320040" cy="73152"/>
          </a:xfrm>
          <a:prstGeom prst="rect">
            <a:avLst/>
          </a:prstGeom>
          <a:solidFill>
            <a:srgbClr val="3B82C4"/>
          </a:solidFill>
        </p:spPr>
      </p:sp>
      <p:sp>
        <p:nvSpPr>
          <p:cNvPr id="26" name="Shape 24"/>
          <p:cNvSpPr/>
          <p:nvPr/>
        </p:nvSpPr>
        <p:spPr>
          <a:xfrm>
            <a:off x="5852160" y="2606040"/>
            <a:ext cx="320040" cy="73152"/>
          </a:xfrm>
          <a:prstGeom prst="rect">
            <a:avLst/>
          </a:prstGeom>
          <a:solidFill>
            <a:srgbClr val="C2530A"/>
          </a:solidFill>
        </p:spPr>
      </p:sp>
      <p:sp>
        <p:nvSpPr>
          <p:cNvPr id="27" name="Text 25"/>
          <p:cNvSpPr/>
          <p:nvPr/>
        </p:nvSpPr>
        <p:spPr>
          <a:xfrm>
            <a:off x="2788920" y="2487168"/>
            <a:ext cx="411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B82C4"/>
                </a:solidFill>
              </a:rPr>
              <a:t>⟵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806440" y="2487168"/>
            <a:ext cx="411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2530A"/>
                </a:solidFill>
              </a:rPr>
              <a:t>⟶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20040" y="4480560"/>
            <a:ext cx="8503920" cy="457200"/>
          </a:xfrm>
          <a:prstGeom prst="rect">
            <a:avLst/>
          </a:prstGeom>
          <a:solidFill>
            <a:srgbClr val="DBEAFE"/>
          </a:solidFill>
        </p:spPr>
      </p:sp>
      <p:sp>
        <p:nvSpPr>
          <p:cNvPr id="30" name="Text 28"/>
          <p:cNvSpPr/>
          <p:nvPr/>
        </p:nvSpPr>
        <p:spPr>
          <a:xfrm>
            <a:off x="320040" y="4480560"/>
            <a:ext cx="8503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</a:rPr>
              <a:t>LTN 的核心：用模糊逻辑将「知识库满足度」变为可微分的损失函数，通过梯度下降同时学习神经网络参数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</p:spPr>
      </p:sp>
      <p:sp>
        <p:nvSpPr>
          <p:cNvPr id="3" name="Text 1"/>
          <p:cNvSpPr/>
          <p:nvPr/>
        </p:nvSpPr>
        <p:spPr>
          <a:xfrm>
            <a:off x="347472" y="0"/>
            <a:ext cx="85953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核心语言：Real Logic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一种完全可微分的一阶逻辑语言，将每个符号表达式映射到实数域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048256" cy="3108960"/>
          </a:xfrm>
          <a:prstGeom prst="rect">
            <a:avLst/>
          </a:prstGeom>
          <a:solidFill>
            <a:srgbClr val="F7FAFF"/>
          </a:solidFill>
          <a:ln w="12700">
            <a:solidFill>
              <a:srgbClr val="CD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88720"/>
            <a:ext cx="2048256" cy="475488"/>
          </a:xfrm>
          <a:prstGeom prst="rect">
            <a:avLst/>
          </a:prstGeom>
          <a:solidFill>
            <a:srgbClr val="2563A8"/>
          </a:solidFill>
        </p:spPr>
      </p:sp>
      <p:sp>
        <p:nvSpPr>
          <p:cNvPr id="7" name="Text 5"/>
          <p:cNvSpPr/>
          <p:nvPr/>
        </p:nvSpPr>
        <p:spPr>
          <a:xfrm>
            <a:off x="365760" y="1188720"/>
            <a:ext cx="1956816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📌  常量 Constant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1865376" cy="2468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表示具体的个体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（如某张图片、某个实体）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Grounding → 实数张量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G(c) ∈ ℝⁿ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96312" y="1188720"/>
            <a:ext cx="2048256" cy="3108960"/>
          </a:xfrm>
          <a:prstGeom prst="rect">
            <a:avLst/>
          </a:prstGeom>
          <a:solidFill>
            <a:srgbClr val="F7FAFF"/>
          </a:solidFill>
          <a:ln w="12700">
            <a:solidFill>
              <a:srgbClr val="CDD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96312" y="1188720"/>
            <a:ext cx="2048256" cy="475488"/>
          </a:xfrm>
          <a:prstGeom prst="rect">
            <a:avLst/>
          </a:prstGeom>
          <a:solidFill>
            <a:srgbClr val="3B82C4"/>
          </a:solidFill>
        </p:spPr>
      </p:sp>
      <p:sp>
        <p:nvSpPr>
          <p:cNvPr id="11" name="Text 9"/>
          <p:cNvSpPr/>
          <p:nvPr/>
        </p:nvSpPr>
        <p:spPr>
          <a:xfrm>
            <a:off x="2542032" y="1188720"/>
            <a:ext cx="1956816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 变量 Variable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87752" y="1737360"/>
            <a:ext cx="1865376" cy="2468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表示一批个体的序列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（如一批训练样本）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变量 x → nx 个个体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G(x) = [x₁, x₂, …, xₙₓ]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72584" y="1188720"/>
            <a:ext cx="2048256" cy="3108960"/>
          </a:xfrm>
          <a:prstGeom prst="rect">
            <a:avLst/>
          </a:prstGeom>
          <a:solidFill>
            <a:srgbClr val="F7FAFF"/>
          </a:solidFill>
          <a:ln w="12700">
            <a:solidFill>
              <a:srgbClr val="CDD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72584" y="1188720"/>
            <a:ext cx="2048256" cy="475488"/>
          </a:xfrm>
          <a:prstGeom prst="rect">
            <a:avLst/>
          </a:prstGeom>
          <a:solidFill>
            <a:srgbClr val="0F6B50"/>
          </a:solidFill>
        </p:spPr>
      </p:sp>
      <p:sp>
        <p:nvSpPr>
          <p:cNvPr id="15" name="Text 13"/>
          <p:cNvSpPr/>
          <p:nvPr/>
        </p:nvSpPr>
        <p:spPr>
          <a:xfrm>
            <a:off x="4718304" y="1188720"/>
            <a:ext cx="1956816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⚙️  函数 Function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64024" y="1737360"/>
            <a:ext cx="1865376" cy="2468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将输入映射到输出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（如特征提取器、回归函数）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Grounding → 真实数学函数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G(f): ℝⁿ → ℝᵐ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48856" y="1188720"/>
            <a:ext cx="2048256" cy="3108960"/>
          </a:xfrm>
          <a:prstGeom prst="rect">
            <a:avLst/>
          </a:prstGeom>
          <a:solidFill>
            <a:srgbClr val="F7FAFF"/>
          </a:solidFill>
          <a:ln w="12700">
            <a:solidFill>
              <a:srgbClr val="CDD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48856" y="1188720"/>
            <a:ext cx="2048256" cy="475488"/>
          </a:xfrm>
          <a:prstGeom prst="rect">
            <a:avLst/>
          </a:prstGeom>
          <a:solidFill>
            <a:srgbClr val="C2530A"/>
          </a:solidFill>
        </p:spPr>
      </p:sp>
      <p:sp>
        <p:nvSpPr>
          <p:cNvPr id="19" name="Text 17"/>
          <p:cNvSpPr/>
          <p:nvPr/>
        </p:nvSpPr>
        <p:spPr>
          <a:xfrm>
            <a:off x="6894576" y="1188720"/>
            <a:ext cx="1956816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🎯  谓词 Predicate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40296" y="1737360"/>
            <a:ext cx="1865376" cy="2468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判断命题的真实程度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输出 [0, 1] 之间的真值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Grounding → 神经网络+Sigmoid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G(P): ℝⁿ → [0,1]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407408"/>
            <a:ext cx="8503920" cy="548640"/>
          </a:xfrm>
          <a:prstGeom prst="rect">
            <a:avLst/>
          </a:prstGeom>
          <a:solidFill>
            <a:srgbClr val="E8F0FB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407408"/>
            <a:ext cx="8503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</a:rPr>
              <a:t>公式构建：  </a:t>
            </a:r>
            <a:r>
              <a:rPr lang="en-US" sz="1300" dirty="0">
                <a:solidFill>
                  <a:srgbClr val="1E2A3A"/>
                </a:solidFill>
              </a:rPr>
              <a:t>原子公式 </a:t>
            </a:r>
            <a:r>
              <a:rPr lang="en-US" sz="1300" b="1" dirty="0">
                <a:solidFill>
                  <a:srgbClr val="3B82C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P(t₁, t₂, …)</a:t>
            </a:r>
            <a:r>
              <a:rPr lang="en-US" sz="1300" dirty="0">
                <a:solidFill>
                  <a:srgbClr val="1E2A3A"/>
                </a:solidFill>
              </a:rPr>
              <a:t>   →   复合公式 via  </a:t>
            </a:r>
            <a:r>
              <a:rPr lang="en-US" sz="1300" b="1" dirty="0">
                <a:solidFill>
                  <a:srgbClr val="C2530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¬  ∧  ∨  ⇒  ↔  ∀  ∃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</p:spPr>
      </p:sp>
      <p:sp>
        <p:nvSpPr>
          <p:cNvPr id="3" name="Text 1"/>
          <p:cNvSpPr/>
          <p:nvPr/>
        </p:nvSpPr>
        <p:spPr>
          <a:xfrm>
            <a:off x="347472" y="0"/>
            <a:ext cx="85953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Grounding 接地机制  G : 符号 → 实数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Grounding 是 LTN 的灵魂：将所有逻辑符号映射为可微分的实数张量，使梯度下降成为可能</a:t>
            </a:r>
            <a:endParaRPr lang="en-US" sz="1200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320040" y="1207008"/>
          <a:ext cx="8503920" cy="2560320"/>
        </p:xfrm>
        <a:graphic>
          <a:graphicData uri="http://schemas.openxmlformats.org/drawingml/2006/table">
            <a:tbl>
              <a:tblPr/>
              <a:tblGrid>
                <a:gridCol w="2834640"/>
                <a:gridCol w="2834640"/>
                <a:gridCol w="283464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逻辑元素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Grounding G 映射到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具体例子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个体 (Individual)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实数张量  G(c) ∈ ℝⁿ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图片的像素矩阵、特征向量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变量 x（nx 个个体）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张量序列  G(x) = [x₁,...,xₙₓ]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一批训练样本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函数 f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真实数学函数  G(f): ℝⁿ→ℝᵐ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CNN特征提取器、回归网络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谓词 P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输出[0,1]的函数  G(P): ℝⁿ→[0,1]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分类器 + Sigmoid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连接词 ∧∨¬⇒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模糊逻辑算子（逐元素运算）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u·v, u+v−uv, 1−u, …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量词 ∀∃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聚合函数（p-mean）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对张量的指定维度求均值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320040" y="3913632"/>
            <a:ext cx="8503920" cy="100584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4195" y="4115054"/>
            <a:ext cx="813816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3A"/>
                </a:solidFill>
              </a:rPr>
              <a:t>由于所有 Grounding 都映射到</a:t>
            </a:r>
            <a:r>
              <a:rPr lang="en-US" sz="1600" b="1" dirty="0">
                <a:solidFill>
                  <a:srgbClr val="3B82C4"/>
                </a:solidFill>
              </a:rPr>
              <a:t> 连续实数域</a:t>
            </a:r>
            <a:r>
              <a:rPr lang="en-US" sz="1600" dirty="0">
                <a:solidFill>
                  <a:srgbClr val="1E2A3A"/>
                </a:solidFill>
              </a:rPr>
              <a:t>，LTN 可以对逻辑公式的</a:t>
            </a:r>
            <a:r>
              <a:rPr lang="en-US" sz="1600" b="1" dirty="0">
                <a:solidFill>
                  <a:srgbClr val="3B82C4"/>
                </a:solidFill>
              </a:rPr>
              <a:t>每一个子表达式</a:t>
            </a:r>
            <a:r>
              <a:rPr lang="en-US" sz="1600" dirty="0">
                <a:solidFill>
                  <a:srgbClr val="1E2A3A"/>
                </a:solidFill>
              </a:rPr>
              <a:t>都附加梯度，从而通过</a:t>
            </a:r>
            <a:r>
              <a:rPr lang="en-US" sz="1600" b="1" dirty="0">
                <a:solidFill>
                  <a:srgbClr val="1B3A6B"/>
                </a:solidFill>
              </a:rPr>
              <a:t>梯度下降</a:t>
            </a:r>
            <a:r>
              <a:rPr lang="en-US" sz="1600" dirty="0">
                <a:solidFill>
                  <a:srgbClr val="1E2A3A"/>
                </a:solidFill>
              </a:rPr>
              <a:t>同时优化神经网络参数 θ，使知识库 K 的</a:t>
            </a:r>
            <a:r>
              <a:rPr lang="en-US" sz="1600" b="1" dirty="0">
                <a:solidFill>
                  <a:srgbClr val="1B3A6B"/>
                </a:solidFill>
              </a:rPr>
              <a:t>整体满足度最大化</a:t>
            </a:r>
            <a:r>
              <a:rPr lang="en-US" sz="1600" dirty="0">
                <a:solidFill>
                  <a:srgbClr val="1E2A3A"/>
                </a:solidFill>
              </a:rPr>
              <a:t>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</p:spPr>
      </p:sp>
      <p:sp>
        <p:nvSpPr>
          <p:cNvPr id="3" name="Text 1"/>
          <p:cNvSpPr/>
          <p:nvPr/>
        </p:nvSpPr>
        <p:spPr>
          <a:xfrm>
            <a:off x="347472" y="0"/>
            <a:ext cx="85953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模糊逻辑语义：让逻辑「连续化」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传统逻辑 True/False（0或1）  →  模糊逻辑：真值 ∈ [0, 1] 的连续值，支持梯度传播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1188720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连接词算子（Product 配置，u, v ∈ [0,1]）：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320040" y="1481328"/>
          <a:ext cx="5029200" cy="1828800"/>
        </p:xfrm>
        <a:graphic>
          <a:graphicData uri="http://schemas.openxmlformats.org/drawingml/2006/table">
            <a:tbl>
              <a:tblPr/>
              <a:tblGrid>
                <a:gridCol w="1676400"/>
                <a:gridCol w="1676400"/>
                <a:gridCol w="167640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符号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公式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直觉理解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u ∧ v（与）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u × v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两者都高才高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u ∨ v（或）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u + v − u·v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至少一个高就高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u ⇒ v（蕴含）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1 − u + u·v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前提弱则条件宽松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¬u（非）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1 − u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取反</a:t>
                      </a:r>
                      <a:endParaRPr lang="en-US" sz="12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5532120" y="1188720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量词聚合（p ≥ 1 为超参数）：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532120" y="1481328"/>
            <a:ext cx="3291840" cy="1298448"/>
          </a:xfrm>
          <a:prstGeom prst="rect">
            <a:avLst/>
          </a:prstGeom>
          <a:solidFill>
            <a:srgbClr val="D1FAE5"/>
          </a:solidFill>
          <a:ln w="12700">
            <a:solidFill>
              <a:srgbClr val="93C5E8"/>
            </a:solidFill>
            <a:prstDash val="solid"/>
          </a:ln>
          <a:effectLst>
            <a:outerShdw blurRad="63500" dist="25400" dir="8100000" algn="bl" rotWithShape="0">
              <a:srgbClr val="B0C4DE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532120" y="1481328"/>
            <a:ext cx="64008" cy="1298448"/>
          </a:xfrm>
          <a:prstGeom prst="rect">
            <a:avLst/>
          </a:prstGeom>
          <a:solidFill>
            <a:srgbClr val="0F6B50"/>
          </a:solidFill>
        </p:spPr>
      </p:sp>
      <p:sp>
        <p:nvSpPr>
          <p:cNvPr id="10" name="Text 7"/>
          <p:cNvSpPr/>
          <p:nvPr/>
        </p:nvSpPr>
        <p:spPr>
          <a:xfrm>
            <a:off x="5687568" y="1536192"/>
            <a:ext cx="303580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B50"/>
                </a:solidFill>
              </a:rPr>
              <a:t>∃（存在量词）→ p-mean</a:t>
            </a:r>
            <a:r>
              <a:rPr lang="zh-CN" altLang="en-US" sz="1100" dirty="0"/>
              <a:t>广义平均</a:t>
            </a:r>
            <a:endParaRPr lang="zh-CN" alt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87568" y="1828800"/>
            <a:ext cx="303580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( 1/n · Σ uᵢᵖ )^(1/p)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687568" y="2212848"/>
            <a:ext cx="303580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</a:rPr>
              <a:t>p→∞ 时趋向 max；p=1 时为普通均值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532120" y="2907792"/>
            <a:ext cx="3291840" cy="1298448"/>
          </a:xfrm>
          <a:prstGeom prst="rect">
            <a:avLst/>
          </a:prstGeom>
          <a:solidFill>
            <a:srgbClr val="FEF3C7"/>
          </a:solidFill>
          <a:ln w="12700">
            <a:solidFill>
              <a:srgbClr val="93C5E8"/>
            </a:solidFill>
            <a:prstDash val="solid"/>
          </a:ln>
          <a:effectLst>
            <a:outerShdw blurRad="63500" dist="25400" dir="8100000" algn="bl" rotWithShape="0">
              <a:srgbClr val="B0C4DE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32120" y="2907792"/>
            <a:ext cx="64008" cy="1298448"/>
          </a:xfrm>
          <a:prstGeom prst="rect">
            <a:avLst/>
          </a:prstGeom>
          <a:solidFill>
            <a:srgbClr val="C2530A"/>
          </a:solidFill>
        </p:spPr>
      </p:sp>
      <p:sp>
        <p:nvSpPr>
          <p:cNvPr id="15" name="Text 12"/>
          <p:cNvSpPr/>
          <p:nvPr/>
        </p:nvSpPr>
        <p:spPr>
          <a:xfrm>
            <a:off x="5687568" y="2962656"/>
            <a:ext cx="303580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530A"/>
                </a:solidFill>
              </a:rPr>
              <a:t>∀（全称量词）→ p-mean error</a:t>
            </a:r>
            <a:r>
              <a:rPr lang="zh-CN" altLang="en-US" sz="1100" dirty="0"/>
              <a:t>广义误差平均</a:t>
            </a:r>
            <a:endParaRPr lang="zh-CN" alt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687568" y="3255264"/>
            <a:ext cx="303580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1 − ( 1/n · Σ(1−uᵢ)ᵖ )^(1/p)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687568" y="3639312"/>
            <a:ext cx="303580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</a:rPr>
              <a:t>p→∞ 时趋向 min（最严格）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0040" y="3401568"/>
            <a:ext cx="5029200" cy="822960"/>
          </a:xfrm>
          <a:prstGeom prst="rect">
            <a:avLst/>
          </a:prstGeom>
          <a:solidFill>
            <a:srgbClr val="E8F0FB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3438144"/>
            <a:ext cx="4773168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⚙️  三种语义配置：</a:t>
            </a:r>
            <a:r>
              <a:rPr lang="en-US" sz="1100" dirty="0">
                <a:solidFill>
                  <a:srgbClr val="1E2A3A"/>
                </a:solidFill>
              </a:rPr>
              <a:t>Product（推荐）· Gödel · Łukasiewicz
</a:t>
            </a:r>
            <a:r>
              <a:rPr lang="en-US" sz="1100" b="1" dirty="0">
                <a:solidFill>
                  <a:srgbClr val="3B82C4"/>
                </a:solidFill>
              </a:rPr>
              <a:t>Product 配置对梯度优化最友好</a:t>
            </a:r>
            <a:r>
              <a:rPr lang="en-US" sz="1100" dirty="0">
                <a:solidFill>
                  <a:srgbClr val="5A6A7E"/>
                </a:solidFill>
              </a:rPr>
              <a:t>（van Krieken et al., 2022）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0040" y="4334256"/>
            <a:ext cx="8503920" cy="566928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4334256"/>
            <a:ext cx="8321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</a:rPr>
              <a:t>连接词对张量做「逐元素」运算；量词对指定维度做聚合 → 结果维度比输入少一维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</p:spPr>
      </p:sp>
      <p:sp>
        <p:nvSpPr>
          <p:cNvPr id="3" name="Text 1"/>
          <p:cNvSpPr/>
          <p:nvPr/>
        </p:nvSpPr>
        <p:spPr>
          <a:xfrm>
            <a:off x="347472" y="0"/>
            <a:ext cx="85953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逐步计算示例：∀x ∃y  P(x, y) ∧ Q(y)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x 有 3 个个体（x₁,x₂,x₃），y 有 2 个个体（y₁,y₂）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2743200" cy="1719072"/>
          </a:xfrm>
          <a:prstGeom prst="rect">
            <a:avLst/>
          </a:prstGeom>
          <a:solidFill>
            <a:srgbClr val="F7FAFF"/>
          </a:solidFill>
          <a:ln w="12700">
            <a:solidFill>
              <a:srgbClr val="CD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07008"/>
            <a:ext cx="2743200" cy="402336"/>
          </a:xfrm>
          <a:prstGeom prst="rect">
            <a:avLst/>
          </a:prstGeom>
          <a:solidFill>
            <a:srgbClr val="2563A8"/>
          </a:solidFill>
        </p:spPr>
      </p:sp>
      <p:sp>
        <p:nvSpPr>
          <p:cNvPr id="7" name="Text 5"/>
          <p:cNvSpPr/>
          <p:nvPr/>
        </p:nvSpPr>
        <p:spPr>
          <a:xfrm>
            <a:off x="374904" y="1207008"/>
            <a:ext cx="2633472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(a)  变量接地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664208"/>
            <a:ext cx="1920240" cy="11704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</a:rPr>
              <a:t>G(x)=[x₁,x₂,x₃]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</a:rPr>
              <a:t>G(y)=[y₁,y₂]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</a:rPr>
              <a:t>每个 xᵢ/yⱼ 是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</a:rPr>
              <a:t>实数值张量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58568" y="1755648"/>
            <a:ext cx="694944" cy="658368"/>
          </a:xfrm>
          <a:prstGeom prst="roundRect">
            <a:avLst>
              <a:gd name="adj" fmla="val 8333"/>
            </a:avLst>
          </a:prstGeom>
          <a:solidFill>
            <a:srgbClr val="DBEAFE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58568" y="1755648"/>
            <a:ext cx="694944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</a:rPr>
              <a:t>3×1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</a:rPr>
              <a:t>2×1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63240" y="1920240"/>
            <a:ext cx="21945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B82C4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64408" y="1207008"/>
            <a:ext cx="2743200" cy="1719072"/>
          </a:xfrm>
          <a:prstGeom prst="rect">
            <a:avLst/>
          </a:prstGeom>
          <a:solidFill>
            <a:srgbClr val="F7FAFF"/>
          </a:solidFill>
          <a:ln w="12700">
            <a:solidFill>
              <a:srgbClr val="CDD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4408" y="1207008"/>
            <a:ext cx="2743200" cy="402336"/>
          </a:xfrm>
          <a:prstGeom prst="rect">
            <a:avLst/>
          </a:prstGeom>
          <a:solidFill>
            <a:srgbClr val="3B82C4"/>
          </a:solidFill>
        </p:spPr>
      </p:sp>
      <p:sp>
        <p:nvSpPr>
          <p:cNvPr id="14" name="Text 12"/>
          <p:cNvSpPr/>
          <p:nvPr/>
        </p:nvSpPr>
        <p:spPr>
          <a:xfrm>
            <a:off x="3319272" y="1207008"/>
            <a:ext cx="2633472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(b)  计算谓词 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55975" y="1664335"/>
            <a:ext cx="1941830" cy="11703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</a:rPr>
              <a:t>P(xᵢ,yⱼ) 对所有(i,j)组合求值</a:t>
            </a:r>
            <a:r>
              <a:rPr lang="zh-CN" altLang="en-US" sz="1100" dirty="0">
                <a:solidFill>
                  <a:srgbClr val="1E2A3A"/>
                </a:solidFill>
              </a:rPr>
              <a:t>，</a:t>
            </a:r>
            <a:r>
              <a:rPr lang="en-US" sz="1100" dirty="0">
                <a:solidFill>
                  <a:srgbClr val="1E2A3A"/>
                </a:solidFill>
              </a:rPr>
              <a:t>输出二维矩阵</a:t>
            </a:r>
            <a:r>
              <a:rPr lang="zh-CN" altLang="en-US" sz="1100" dirty="0">
                <a:solidFill>
                  <a:srgbClr val="1E2A3A"/>
                </a:solidFill>
              </a:rPr>
              <a:t>，</a:t>
            </a:r>
            <a:r>
              <a:rPr lang="en-US" sz="1100" dirty="0">
                <a:solidFill>
                  <a:srgbClr val="1E2A3A"/>
                </a:solidFill>
              </a:rPr>
              <a:t>每项 ∈ [0,1]</a:t>
            </a:r>
            <a:endParaRPr lang="en-US" sz="1100" dirty="0">
              <a:solidFill>
                <a:srgbClr val="1E2A3A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</a:rPr>
              <a:t>比如P(x₁,y₁)=0.8表示"x₁和y₁满足关系P的程度为80%"</a:t>
            </a:r>
            <a:endParaRPr lang="en-US" sz="1100" dirty="0">
              <a:solidFill>
                <a:srgbClr val="1E2A3A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202936" y="1755648"/>
            <a:ext cx="694944" cy="658368"/>
          </a:xfrm>
          <a:prstGeom prst="roundRect">
            <a:avLst>
              <a:gd name="adj" fmla="val 8333"/>
            </a:avLst>
          </a:prstGeom>
          <a:solidFill>
            <a:srgbClr val="DBEAFE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02936" y="1755648"/>
            <a:ext cx="694944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</a:rPr>
              <a:t>3×2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</a:rPr>
              <a:t>矩阵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07608" y="1920240"/>
            <a:ext cx="21945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B82C4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08776" y="1207008"/>
            <a:ext cx="2743200" cy="1719072"/>
          </a:xfrm>
          <a:prstGeom prst="rect">
            <a:avLst/>
          </a:prstGeom>
          <a:solidFill>
            <a:srgbClr val="F7FAFF"/>
          </a:solidFill>
          <a:ln w="12700">
            <a:solidFill>
              <a:srgbClr val="CDD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08776" y="1207008"/>
            <a:ext cx="2743200" cy="402336"/>
          </a:xfrm>
          <a:prstGeom prst="rect">
            <a:avLst/>
          </a:prstGeom>
          <a:solidFill>
            <a:srgbClr val="3B82C4"/>
          </a:solidFill>
        </p:spPr>
      </p:sp>
      <p:sp>
        <p:nvSpPr>
          <p:cNvPr id="21" name="Text 19"/>
          <p:cNvSpPr/>
          <p:nvPr/>
        </p:nvSpPr>
        <p:spPr>
          <a:xfrm>
            <a:off x="6263640" y="1207008"/>
            <a:ext cx="2633472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(c)  计算谓词 Q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0216" y="1664208"/>
            <a:ext cx="1920240" cy="11704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</a:rPr>
              <a:t>Q(yⱼ) 只依赖 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</a:rPr>
              <a:t>输出行向量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</a:rPr>
              <a:t>每项 ∈ [0,1]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47304" y="1755648"/>
            <a:ext cx="694944" cy="658368"/>
          </a:xfrm>
          <a:prstGeom prst="roundRect">
            <a:avLst>
              <a:gd name="adj" fmla="val 8333"/>
            </a:avLst>
          </a:prstGeom>
          <a:solidFill>
            <a:srgbClr val="DBEAFE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7304" y="1755648"/>
            <a:ext cx="694944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</a:rPr>
              <a:t>1×2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</a:rPr>
              <a:t>向量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127248"/>
            <a:ext cx="2743200" cy="1719072"/>
          </a:xfrm>
          <a:prstGeom prst="rect">
            <a:avLst/>
          </a:prstGeom>
          <a:solidFill>
            <a:srgbClr val="F7FAFF"/>
          </a:solidFill>
          <a:ln w="12700">
            <a:solidFill>
              <a:srgbClr val="CDD8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127248"/>
            <a:ext cx="2743200" cy="402336"/>
          </a:xfrm>
          <a:prstGeom prst="rect">
            <a:avLst/>
          </a:prstGeom>
          <a:solidFill>
            <a:srgbClr val="0F6B50"/>
          </a:solidFill>
        </p:spPr>
      </p:sp>
      <p:sp>
        <p:nvSpPr>
          <p:cNvPr id="27" name="Text 25"/>
          <p:cNvSpPr/>
          <p:nvPr/>
        </p:nvSpPr>
        <p:spPr>
          <a:xfrm>
            <a:off x="374904" y="3127248"/>
            <a:ext cx="2633472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(d)  ∧ 逐元素乘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3584448"/>
            <a:ext cx="1920240" cy="11704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</a:rPr>
              <a:t>广播 Q(y) 为 3×2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</a:rPr>
              <a:t>然后与 P(x,y)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</a:rPr>
              <a:t>逐元素相乘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</a:rPr>
              <a:t>u·v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58568" y="3675888"/>
            <a:ext cx="694944" cy="658368"/>
          </a:xfrm>
          <a:prstGeom prst="roundRect">
            <a:avLst>
              <a:gd name="adj" fmla="val 8333"/>
            </a:avLst>
          </a:prstGeom>
          <a:solidFill>
            <a:srgbClr val="DBEAFE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58568" y="3675888"/>
            <a:ext cx="694944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</a:rPr>
              <a:t>3×2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</a:rPr>
              <a:t>矩阵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063240" y="3840480"/>
            <a:ext cx="21945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B82C4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264408" y="3127248"/>
            <a:ext cx="2743200" cy="1719072"/>
          </a:xfrm>
          <a:prstGeom prst="rect">
            <a:avLst/>
          </a:prstGeom>
          <a:solidFill>
            <a:srgbClr val="F7FAFF"/>
          </a:solidFill>
          <a:ln w="12700">
            <a:solidFill>
              <a:srgbClr val="CDD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64408" y="3127248"/>
            <a:ext cx="2743200" cy="402336"/>
          </a:xfrm>
          <a:prstGeom prst="rect">
            <a:avLst/>
          </a:prstGeom>
          <a:solidFill>
            <a:srgbClr val="C2530A"/>
          </a:solidFill>
        </p:spPr>
      </p:sp>
      <p:sp>
        <p:nvSpPr>
          <p:cNvPr id="34" name="Text 32"/>
          <p:cNvSpPr/>
          <p:nvPr/>
        </p:nvSpPr>
        <p:spPr>
          <a:xfrm>
            <a:off x="3319272" y="3127248"/>
            <a:ext cx="2633472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(e)  ∃y 聚合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55848" y="3584448"/>
            <a:ext cx="1920240" cy="11704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</a:rPr>
              <a:t>对 y 维度做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</a:rPr>
              <a:t>p-mean 聚合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</a:rPr>
              <a:t>3×2 → 3×1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</a:rPr>
              <a:t>保留 x 维度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202936" y="3675888"/>
            <a:ext cx="694944" cy="658368"/>
          </a:xfrm>
          <a:prstGeom prst="roundRect">
            <a:avLst>
              <a:gd name="adj" fmla="val 8333"/>
            </a:avLst>
          </a:prstGeom>
          <a:solidFill>
            <a:srgbClr val="DBEAFE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02936" y="3675888"/>
            <a:ext cx="694944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</a:rPr>
              <a:t>3×1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</a:rPr>
              <a:t>向量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007608" y="3840480"/>
            <a:ext cx="21945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B82C4"/>
                </a:solidFill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08776" y="3127248"/>
            <a:ext cx="2743200" cy="1719072"/>
          </a:xfrm>
          <a:prstGeom prst="rect">
            <a:avLst/>
          </a:prstGeom>
          <a:solidFill>
            <a:srgbClr val="F7FAFF"/>
          </a:solidFill>
          <a:ln w="12700">
            <a:solidFill>
              <a:srgbClr val="CDD8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08776" y="3127248"/>
            <a:ext cx="2743200" cy="402336"/>
          </a:xfrm>
          <a:prstGeom prst="rect">
            <a:avLst/>
          </a:prstGeom>
          <a:solidFill>
            <a:srgbClr val="1B3A6B"/>
          </a:solidFill>
        </p:spPr>
      </p:sp>
      <p:sp>
        <p:nvSpPr>
          <p:cNvPr id="41" name="Text 39"/>
          <p:cNvSpPr/>
          <p:nvPr/>
        </p:nvSpPr>
        <p:spPr>
          <a:xfrm>
            <a:off x="6263640" y="3127248"/>
            <a:ext cx="2633472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(f)  ∀x 聚合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00216" y="3584448"/>
            <a:ext cx="1920240" cy="11704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</a:rPr>
              <a:t>对 x 维度做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</a:rPr>
              <a:t>p-mean error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</a:rPr>
              <a:t>3×1 → 标量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</a:rPr>
              <a:t>最终公式真值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147304" y="3675888"/>
            <a:ext cx="694944" cy="658368"/>
          </a:xfrm>
          <a:prstGeom prst="roundRect">
            <a:avLst>
              <a:gd name="adj" fmla="val 8333"/>
            </a:avLst>
          </a:prstGeom>
          <a:solidFill>
            <a:srgbClr val="DBEAFE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47304" y="3675888"/>
            <a:ext cx="694944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</a:rPr>
              <a:t>标量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</a:rPr>
              <a:t>∈[0,1]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0040" y="4681728"/>
            <a:ext cx="8503920" cy="347472"/>
          </a:xfrm>
          <a:prstGeom prst="rect">
            <a:avLst/>
          </a:prstGeom>
          <a:solidFill>
            <a:srgbClr val="E8F0FB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4681728"/>
            <a:ext cx="8503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∀x∃y P(x,y) ∧ Q(y)  →  G(∀) ∘ G(∃) ∘ G(∧) ∘ [G(P), G(Q)]  →  单个实数真值 ∈ [0,1]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</p:spPr>
      </p:sp>
      <p:sp>
        <p:nvSpPr>
          <p:cNvPr id="3" name="Text 1"/>
          <p:cNvSpPr/>
          <p:nvPr/>
        </p:nvSpPr>
        <p:spPr>
          <a:xfrm>
            <a:off x="347472" y="0"/>
            <a:ext cx="85953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学习机制：知识库 → 损失函数 → 反向传播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069080" cy="1261872"/>
          </a:xfrm>
          <a:prstGeom prst="rect">
            <a:avLst/>
          </a:prstGeom>
          <a:solidFill>
            <a:srgbClr val="F7FAFF"/>
          </a:solidFill>
          <a:ln w="12700">
            <a:solidFill>
              <a:srgbClr val="93C5E8"/>
            </a:solidFill>
            <a:prstDash val="solid"/>
          </a:ln>
          <a:effectLst>
            <a:outerShdw blurRad="63500" dist="25400" dir="8100000" algn="bl" rotWithShape="0">
              <a:srgbClr val="B0C4D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41248"/>
            <a:ext cx="64008" cy="1261872"/>
          </a:xfrm>
          <a:prstGeom prst="rect">
            <a:avLst/>
          </a:prstGeom>
          <a:solidFill>
            <a:srgbClr val="2563A8"/>
          </a:solidFill>
        </p:spPr>
      </p:sp>
      <p:sp>
        <p:nvSpPr>
          <p:cNvPr id="6" name="Text 4"/>
          <p:cNvSpPr/>
          <p:nvPr/>
        </p:nvSpPr>
        <p:spPr>
          <a:xfrm>
            <a:off x="502920" y="896112"/>
            <a:ext cx="37490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知识库 K = {φ₁, φ₂, …, φₙ}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225296"/>
            <a:ext cx="374904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</a:rPr>
              <a:t>• K 是一组</a:t>
            </a:r>
            <a:r>
              <a:rPr lang="en-US" sz="1100" b="1" dirty="0">
                <a:solidFill>
                  <a:srgbClr val="3B82C4"/>
                </a:solidFill>
              </a:rPr>
              <a:t>封闭公式</a:t>
            </a:r>
            <a:r>
              <a:rPr lang="en-US" sz="1100" dirty="0">
                <a:solidFill>
                  <a:srgbClr val="1E2A3A"/>
                </a:solidFill>
              </a:rPr>
              <a:t>（无自由变量）
</a:t>
            </a:r>
            <a:r>
              <a:rPr lang="en-US" sz="1100" dirty="0">
                <a:solidFill>
                  <a:srgbClr val="1E2A3A"/>
                </a:solidFill>
              </a:rPr>
              <a:t>• 谓词 / 函数由</a:t>
            </a:r>
            <a:r>
              <a:rPr lang="en-US" sz="1100" b="1" dirty="0">
                <a:solidFill>
                  <a:srgbClr val="2563A8"/>
                </a:solidFill>
              </a:rPr>
              <a:t>可学习参数 θ 的神经网络</a:t>
            </a:r>
            <a:r>
              <a:rPr lang="en-US" sz="1100" dirty="0">
                <a:solidFill>
                  <a:srgbClr val="1E2A3A"/>
                </a:solidFill>
              </a:rPr>
              <a:t> 实现
</a:t>
            </a:r>
            <a:r>
              <a:rPr lang="en-US" sz="1100" dirty="0">
                <a:solidFill>
                  <a:srgbClr val="1E2A3A"/>
                </a:solidFill>
              </a:rPr>
              <a:t>• 参数化 Grounding 记为 G(·|θ)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841248"/>
            <a:ext cx="4251960" cy="1261872"/>
          </a:xfrm>
          <a:prstGeom prst="rect">
            <a:avLst/>
          </a:prstGeom>
          <a:solidFill>
            <a:srgbClr val="D1FAE5"/>
          </a:solidFill>
          <a:ln w="12700">
            <a:solidFill>
              <a:srgbClr val="93C5E8"/>
            </a:solidFill>
            <a:prstDash val="solid"/>
          </a:ln>
          <a:effectLst>
            <a:outerShdw blurRad="63500" dist="25400" dir="8100000" algn="bl" rotWithShape="0">
              <a:srgbClr val="B0C4DE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841248"/>
            <a:ext cx="64008" cy="1261872"/>
          </a:xfrm>
          <a:prstGeom prst="rect">
            <a:avLst/>
          </a:prstGeom>
          <a:solidFill>
            <a:srgbClr val="0F6B50"/>
          </a:solidFill>
        </p:spPr>
      </p:sp>
      <p:sp>
        <p:nvSpPr>
          <p:cNvPr id="10" name="Text 8"/>
          <p:cNvSpPr/>
          <p:nvPr/>
        </p:nvSpPr>
        <p:spPr>
          <a:xfrm>
            <a:off x="4754880" y="896112"/>
            <a:ext cx="38404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B50"/>
                </a:solidFill>
              </a:rPr>
              <a:t>学习目标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207008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</a:rPr>
              <a:t>最大化知识库的整体满足度：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1463040"/>
            <a:ext cx="3840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249424"/>
            <a:ext cx="4069080" cy="1115568"/>
          </a:xfrm>
          <a:prstGeom prst="rect">
            <a:avLst/>
          </a:prstGeom>
          <a:solidFill>
            <a:srgbClr val="F7FAFF"/>
          </a:solidFill>
          <a:ln w="12700">
            <a:solidFill>
              <a:srgbClr val="93C5E8"/>
            </a:solidFill>
            <a:prstDash val="solid"/>
          </a:ln>
          <a:effectLst>
            <a:outerShdw blurRad="63500" dist="25400" dir="8100000" algn="bl" rotWithShape="0">
              <a:srgbClr val="B0C4DE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249424"/>
            <a:ext cx="64008" cy="1115568"/>
          </a:xfrm>
          <a:prstGeom prst="rect">
            <a:avLst/>
          </a:prstGeom>
          <a:solidFill>
            <a:srgbClr val="3B82C4"/>
          </a:solidFill>
        </p:spPr>
      </p:sp>
      <p:sp>
        <p:nvSpPr>
          <p:cNvPr id="15" name="Text 13"/>
          <p:cNvSpPr/>
          <p:nvPr/>
        </p:nvSpPr>
        <p:spPr>
          <a:xfrm>
            <a:off x="502920" y="2304288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C4"/>
                </a:solidFill>
              </a:rPr>
              <a:t>SatAgg（满足度聚合器）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596896"/>
            <a:ext cx="374904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SatAgg: [0,1]* → [0,1]
</a:t>
            </a:r>
            <a:r>
              <a:rPr lang="en-US" sz="1100" dirty="0">
                <a:solidFill>
                  <a:srgbClr val="1E2A3A"/>
                </a:solidFill>
              </a:rPr>
              <a:t>通常用 G(∀) 实现，把所有公式真值聚合为</a:t>
            </a:r>
            <a:r>
              <a:rPr lang="en-US" sz="1100" b="1" dirty="0">
                <a:solidFill>
                  <a:srgbClr val="1B3A6B"/>
                </a:solidFill>
              </a:rPr>
              <a:t>知识库整体满足度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249424"/>
            <a:ext cx="4251960" cy="1115568"/>
          </a:xfrm>
          <a:prstGeom prst="rect">
            <a:avLst/>
          </a:prstGeom>
          <a:solidFill>
            <a:srgbClr val="E8F0FB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304288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损失函数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108960"/>
            <a:ext cx="3840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6B50"/>
                </a:solidFill>
              </a:rPr>
              <a:t>满足度越高 → 损失越小  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3493008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训练三步走：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3822192"/>
            <a:ext cx="2743200" cy="1005840"/>
          </a:xfrm>
          <a:prstGeom prst="rect">
            <a:avLst/>
          </a:prstGeom>
          <a:solidFill>
            <a:srgbClr val="F7FAFF"/>
          </a:solidFill>
          <a:ln w="12700">
            <a:solidFill>
              <a:srgbClr val="CDD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822192"/>
            <a:ext cx="2743200" cy="329184"/>
          </a:xfrm>
          <a:prstGeom prst="rect">
            <a:avLst/>
          </a:prstGeom>
          <a:solidFill>
            <a:srgbClr val="2563A8"/>
          </a:solidFill>
        </p:spPr>
      </p:sp>
      <p:sp>
        <p:nvSpPr>
          <p:cNvPr id="24" name="Text 22"/>
          <p:cNvSpPr/>
          <p:nvPr/>
        </p:nvSpPr>
        <p:spPr>
          <a:xfrm>
            <a:off x="393192" y="3822192"/>
            <a:ext cx="259689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①  Grounding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4187952"/>
            <a:ext cx="256032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</a:rPr>
              <a:t>用当前批次数据</a:t>
            </a:r>
            <a:r>
              <a:rPr lang="en-US" sz="1100" dirty="0">
                <a:solidFill>
                  <a:srgbClr val="FF0000"/>
                </a:solidFill>
              </a:rPr>
              <a:t>实例化</a:t>
            </a:r>
            <a:r>
              <a:rPr lang="en-US" sz="1100" dirty="0">
                <a:solidFill>
                  <a:srgbClr val="1E2A3A"/>
                </a:solidFill>
              </a:rPr>
              <a:t>公式中的变量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81528" y="4187952"/>
            <a:ext cx="20116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B82C4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264408" y="3822192"/>
            <a:ext cx="2743200" cy="1005840"/>
          </a:xfrm>
          <a:prstGeom prst="rect">
            <a:avLst/>
          </a:prstGeom>
          <a:solidFill>
            <a:srgbClr val="F7FAFF"/>
          </a:solidFill>
          <a:ln w="12700">
            <a:solidFill>
              <a:srgbClr val="CDD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64408" y="3822192"/>
            <a:ext cx="2743200" cy="329184"/>
          </a:xfrm>
          <a:prstGeom prst="rect">
            <a:avLst/>
          </a:prstGeom>
          <a:solidFill>
            <a:srgbClr val="3B82C4"/>
          </a:solidFill>
        </p:spPr>
      </p:sp>
      <p:sp>
        <p:nvSpPr>
          <p:cNvPr id="29" name="Text 27"/>
          <p:cNvSpPr/>
          <p:nvPr/>
        </p:nvSpPr>
        <p:spPr>
          <a:xfrm>
            <a:off x="3337560" y="3822192"/>
            <a:ext cx="259689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②  评估公式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55848" y="4187952"/>
            <a:ext cx="256032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</a:rPr>
              <a:t>计算每条公式的模糊真值，得到</a:t>
            </a:r>
            <a:r>
              <a:rPr lang="en-US" sz="1100" dirty="0">
                <a:solidFill>
                  <a:srgbClr val="FF0000"/>
                </a:solidFill>
              </a:rPr>
              <a:t>损失</a:t>
            </a:r>
            <a:r>
              <a:rPr lang="en-US" sz="1100" dirty="0">
                <a:solidFill>
                  <a:srgbClr val="1E2A3A"/>
                </a:solidFill>
              </a:rPr>
              <a:t> L(θ)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25896" y="4187952"/>
            <a:ext cx="20116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B82C4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08776" y="3822192"/>
            <a:ext cx="2743200" cy="1005840"/>
          </a:xfrm>
          <a:prstGeom prst="rect">
            <a:avLst/>
          </a:prstGeom>
          <a:solidFill>
            <a:srgbClr val="F7FAFF"/>
          </a:solidFill>
          <a:ln w="12700">
            <a:solidFill>
              <a:srgbClr val="CDD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08776" y="3822192"/>
            <a:ext cx="2743200" cy="329184"/>
          </a:xfrm>
          <a:prstGeom prst="rect">
            <a:avLst/>
          </a:prstGeom>
          <a:solidFill>
            <a:srgbClr val="0F6B50"/>
          </a:solidFill>
        </p:spPr>
      </p:sp>
      <p:sp>
        <p:nvSpPr>
          <p:cNvPr id="34" name="Text 32"/>
          <p:cNvSpPr/>
          <p:nvPr/>
        </p:nvSpPr>
        <p:spPr>
          <a:xfrm>
            <a:off x="6281928" y="3822192"/>
            <a:ext cx="259689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③  反向传播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00216" y="4187952"/>
            <a:ext cx="256032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</a:rPr>
              <a:t>梯度经过逻辑计算图</a:t>
            </a:r>
            <a:r>
              <a:rPr lang="en-US" sz="1100" dirty="0">
                <a:solidFill>
                  <a:srgbClr val="FF0000"/>
                </a:solidFill>
              </a:rPr>
              <a:t>反传</a:t>
            </a:r>
            <a:r>
              <a:rPr lang="en-US" sz="1100" dirty="0">
                <a:solidFill>
                  <a:srgbClr val="1E2A3A"/>
                </a:solidFill>
              </a:rPr>
              <a:t>，更新神经网络权重 θ</a:t>
            </a:r>
            <a:endParaRPr lang="en-US" sz="1100" dirty="0"/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1595" y="1490345"/>
            <a:ext cx="2710180" cy="476250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835" y="2570480"/>
            <a:ext cx="2853055" cy="4908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</p:spPr>
      </p:sp>
      <p:sp>
        <p:nvSpPr>
          <p:cNvPr id="3" name="Text 1"/>
          <p:cNvSpPr/>
          <p:nvPr/>
        </p:nvSpPr>
        <p:spPr>
          <a:xfrm>
            <a:off x="347472" y="0"/>
            <a:ext cx="85953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案例：二分类 —— 猫狗图片判别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475488"/>
          </a:xfrm>
          <a:prstGeom prst="rect">
            <a:avLst/>
          </a:prstGeom>
          <a:solidFill>
            <a:srgbClr val="DBEAFE"/>
          </a:solidFill>
        </p:spPr>
      </p:sp>
      <p:sp>
        <p:nvSpPr>
          <p:cNvPr id="5" name="Text 3"/>
          <p:cNvSpPr/>
          <p:nvPr/>
        </p:nvSpPr>
        <p:spPr>
          <a:xfrm>
            <a:off x="457200" y="822960"/>
            <a:ext cx="8321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任务目标：</a:t>
            </a:r>
            <a:r>
              <a:rPr lang="en-US" sz="1200" dirty="0">
                <a:solidFill>
                  <a:srgbClr val="1E2A3A"/>
                </a:solidFill>
              </a:rPr>
              <a:t>训练谓词 Dog，使其对狗图片返回高真值，对猫图片返回低真值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408430"/>
            <a:ext cx="4069080" cy="1739265"/>
          </a:xfrm>
          <a:prstGeom prst="rect">
            <a:avLst/>
          </a:prstGeom>
          <a:solidFill>
            <a:srgbClr val="F7FAFF"/>
          </a:solidFill>
          <a:ln w="12700">
            <a:solidFill>
              <a:srgbClr val="93C5E8"/>
            </a:solidFill>
            <a:prstDash val="solid"/>
          </a:ln>
          <a:effectLst>
            <a:outerShdw blurRad="63500" dist="25400" dir="8100000" algn="bl" rotWithShape="0">
              <a:srgbClr val="B0C4DE">
                <a:alpha val="1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320040" y="1408430"/>
            <a:ext cx="76200" cy="1732280"/>
          </a:xfrm>
          <a:prstGeom prst="rect">
            <a:avLst/>
          </a:prstGeom>
          <a:solidFill>
            <a:srgbClr val="2563A8"/>
          </a:solidFill>
        </p:spPr>
      </p:sp>
      <p:sp>
        <p:nvSpPr>
          <p:cNvPr id="8" name="Text 6"/>
          <p:cNvSpPr/>
          <p:nvPr/>
        </p:nvSpPr>
        <p:spPr>
          <a:xfrm>
            <a:off x="502920" y="146304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逻辑符号定义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792224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C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变量 dog  </a:t>
            </a:r>
            <a:r>
              <a:rPr lang="en-US" sz="1100" dirty="0">
                <a:solidFill>
                  <a:srgbClr val="1E2A3A"/>
                </a:solidFill>
              </a:rPr>
              <a:t>一批狗图片（正例批次 B_dog）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8635" y="2181733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C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变量 cat  </a:t>
            </a:r>
            <a:r>
              <a:rPr lang="en-US" sz="1100" dirty="0">
                <a:solidFill>
                  <a:srgbClr val="1E2A3A"/>
                </a:solidFill>
              </a:rPr>
              <a:t>一批猫图片（负例批次 B_cat）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8635" y="2571877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C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谓词 Dog(·)  </a:t>
            </a:r>
            <a:r>
              <a:rPr lang="en-US" sz="1100" dirty="0">
                <a:solidFill>
                  <a:srgbClr val="1E2A3A"/>
                </a:solidFill>
              </a:rPr>
              <a:t>CNN + σ → [0,1]，判断图片是否为狗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408176"/>
            <a:ext cx="4251960" cy="1737360"/>
          </a:xfrm>
          <a:prstGeom prst="rect">
            <a:avLst/>
          </a:prstGeom>
          <a:solidFill>
            <a:srgbClr val="FEF3C7"/>
          </a:solidFill>
          <a:ln w="12700">
            <a:solidFill>
              <a:srgbClr val="93C5E8"/>
            </a:solidFill>
            <a:prstDash val="solid"/>
          </a:ln>
          <a:effectLst>
            <a:outerShdw blurRad="63500" dist="25400" dir="8100000" algn="bl" rotWithShape="0">
              <a:srgbClr val="B0C4DE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408176"/>
            <a:ext cx="64008" cy="1737360"/>
          </a:xfrm>
          <a:prstGeom prst="rect">
            <a:avLst/>
          </a:prstGeom>
          <a:solidFill>
            <a:srgbClr val="C2530A"/>
          </a:solidFill>
        </p:spPr>
      </p:sp>
      <p:sp>
        <p:nvSpPr>
          <p:cNvPr id="14" name="Text 12"/>
          <p:cNvSpPr/>
          <p:nvPr/>
        </p:nvSpPr>
        <p:spPr>
          <a:xfrm>
            <a:off x="4754880" y="146304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530A"/>
                </a:solidFill>
              </a:rPr>
              <a:t>知识库  K = {φ₁, φ₂}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1792224"/>
            <a:ext cx="384048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φ₁ = ∀dog Dog(dog)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</a:rPr>
              <a:t>   对所有狗图片，Dog 返回高真值（→1）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2432304"/>
            <a:ext cx="384048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φ₂ = ∀cat ¬Dog(cat)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</a:rPr>
              <a:t>   对所有猫图片，Dog 返回低真值（→0）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3255264"/>
            <a:ext cx="4069080" cy="914400"/>
          </a:xfrm>
          <a:prstGeom prst="rect">
            <a:avLst/>
          </a:prstGeom>
          <a:solidFill>
            <a:srgbClr val="F7FAFF"/>
          </a:solidFill>
          <a:ln w="12700">
            <a:solidFill>
              <a:srgbClr val="93C5E8"/>
            </a:solidFill>
            <a:prstDash val="solid"/>
          </a:ln>
          <a:effectLst>
            <a:outerShdw blurRad="63500" dist="25400" dir="8100000" algn="bl" rotWithShape="0">
              <a:srgbClr val="B0C4DE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255264"/>
            <a:ext cx="64008" cy="914400"/>
          </a:xfrm>
          <a:prstGeom prst="rect">
            <a:avLst/>
          </a:prstGeom>
          <a:solidFill>
            <a:srgbClr val="0F6B50"/>
          </a:solidFill>
        </p:spPr>
      </p:sp>
      <p:sp>
        <p:nvSpPr>
          <p:cNvPr id="19" name="Text 17"/>
          <p:cNvSpPr/>
          <p:nvPr/>
        </p:nvSpPr>
        <p:spPr>
          <a:xfrm>
            <a:off x="502920" y="3310128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B50"/>
                </a:solidFill>
              </a:rPr>
              <a:t>谓词实现（Grounding）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3255264"/>
            <a:ext cx="4251960" cy="914400"/>
          </a:xfrm>
          <a:prstGeom prst="rect">
            <a:avLst/>
          </a:prstGeom>
          <a:solidFill>
            <a:srgbClr val="E8F0FB"/>
          </a:solidFill>
          <a:ln w="12700">
            <a:solidFill>
              <a:srgbClr val="93C5E8"/>
            </a:solidFill>
            <a:prstDash val="solid"/>
          </a:ln>
          <a:effectLst>
            <a:outerShdw blurRad="63500" dist="25400" dir="8100000" algn="bl" rotWithShape="0">
              <a:srgbClr val="B0C4DE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3255264"/>
            <a:ext cx="64008" cy="914400"/>
          </a:xfrm>
          <a:prstGeom prst="rect">
            <a:avLst/>
          </a:prstGeom>
          <a:solidFill>
            <a:srgbClr val="3B82C4"/>
          </a:solidFill>
        </p:spPr>
      </p:sp>
      <p:sp>
        <p:nvSpPr>
          <p:cNvPr id="23" name="Text 21"/>
          <p:cNvSpPr/>
          <p:nvPr/>
        </p:nvSpPr>
        <p:spPr>
          <a:xfrm>
            <a:off x="4754880" y="3310128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损失函数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09160" y="3602736"/>
            <a:ext cx="400507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L(θ) = 1 − SatAgg( G(φ₁|θ), G(φ₂|θ) 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4297680"/>
            <a:ext cx="8503920" cy="658368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334256"/>
            <a:ext cx="12801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计算流程：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590288"/>
            <a:ext cx="8302752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狗图片→CNN→σ→[0.2,0.5,0.8]→∀聚合→φ₁真值    猫图片→CNN→σ→[0.8,0.7,0.6]→¬→[0.2,0.3,0.4]→∀→φ₂真值    SatAgg→G(K)=0.4    Loss=0.6→反传</a:t>
            </a:r>
            <a:endParaRPr lang="en-US" sz="1050" dirty="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200" y="3604895"/>
            <a:ext cx="2371725" cy="36195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190" y="1737360"/>
            <a:ext cx="5505450" cy="19386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</p:spPr>
      </p:sp>
      <p:sp>
        <p:nvSpPr>
          <p:cNvPr id="3" name="Text 1"/>
          <p:cNvSpPr/>
          <p:nvPr/>
        </p:nvSpPr>
        <p:spPr>
          <a:xfrm>
            <a:off x="347472" y="0"/>
            <a:ext cx="85953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LTNtorch 代码实现（PyTorch）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与标准 PyTorch 训练循环几乎一致，只需将交叉熵损失替换为「逻辑知识库满足度」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5212080" cy="3749040"/>
          </a:xfrm>
          <a:prstGeom prst="rect">
            <a:avLst/>
          </a:prstGeom>
          <a:solidFill>
            <a:srgbClr val="1E2A3A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5212080" cy="310896"/>
          </a:xfrm>
          <a:prstGeom prst="rect">
            <a:avLst/>
          </a:prstGeom>
          <a:solidFill>
            <a:srgbClr val="243F70"/>
          </a:solidFill>
        </p:spPr>
      </p:sp>
      <p:sp>
        <p:nvSpPr>
          <p:cNvPr id="7" name="Text 5"/>
          <p:cNvSpPr/>
          <p:nvPr/>
        </p:nvSpPr>
        <p:spPr>
          <a:xfrm>
            <a:off x="384048" y="1170432"/>
            <a:ext cx="5084064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ECE"/>
                </a:solidFill>
              </a:rPr>
              <a:t>Listing 1  ·  LTNtorch training loop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517904"/>
            <a:ext cx="50292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CC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ltn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653235"/>
            <a:ext cx="50292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1788566"/>
            <a:ext cx="50292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9A6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1. 定义谓词 Dog（CNN 实现）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923898"/>
            <a:ext cx="50292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Dog = ltn.Predicate(CNN_model())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059229"/>
            <a:ext cx="50292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194560"/>
            <a:ext cx="50292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9A6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2. 定义逻辑算子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2329891"/>
            <a:ext cx="50292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Not    = ltn.Connective(ltn.fuzzy_ops.NotStandard())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465222"/>
            <a:ext cx="50292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Forall = ltn.Quantifier(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2600554"/>
            <a:ext cx="50292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ltn.fuzzy_ops.AggregPMeanError(p=2),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2735885"/>
            <a:ext cx="50292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quantifier="f")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2871216"/>
            <a:ext cx="50292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SatAgg = ltn.fuzzy_ops.SatAgg()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006547"/>
            <a:ext cx="50292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141878"/>
            <a:ext cx="50292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9A6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3. 训练循环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3277210"/>
            <a:ext cx="50292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epoch in range(n_epochs):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3412541"/>
            <a:ext cx="50292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for dog_imgs, cat_imgs in train_loader: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3547872"/>
            <a:ext cx="50292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dog  = ltn.Variable('dog',  dog_imgs)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" y="3683203"/>
            <a:ext cx="50292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cats = ltn.Variable('cats', cat_imgs)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" y="3818534"/>
            <a:ext cx="50292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sat  = SatAgg(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11480" y="3953866"/>
            <a:ext cx="50292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Forall(dog,  Dog(dog)),        # φ₁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" y="4089197"/>
            <a:ext cx="50292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Forall(cats, Not(Dog(cats)))   # φ₂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11480" y="4224528"/>
            <a:ext cx="50292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11480" y="4359859"/>
            <a:ext cx="50292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16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loss = 1. - sat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11480" y="4495190"/>
            <a:ext cx="50292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loss.backward(); optimizer.step()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687568" y="1170432"/>
            <a:ext cx="3136392" cy="658368"/>
          </a:xfrm>
          <a:prstGeom prst="rect">
            <a:avLst/>
          </a:prstGeom>
          <a:solidFill>
            <a:srgbClr val="F7FAFF"/>
          </a:solidFill>
          <a:ln w="12700">
            <a:solidFill>
              <a:srgbClr val="93C5E8"/>
            </a:solidFill>
            <a:prstDash val="solid"/>
          </a:ln>
          <a:effectLst>
            <a:outerShdw blurRad="63500" dist="25400" dir="8100000" algn="bl" rotWithShape="0">
              <a:srgbClr val="B0C4DE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687568" y="1170432"/>
            <a:ext cx="64008" cy="658368"/>
          </a:xfrm>
          <a:prstGeom prst="rect">
            <a:avLst/>
          </a:prstGeom>
          <a:solidFill>
            <a:srgbClr val="2563A8"/>
          </a:solidFill>
        </p:spPr>
      </p:sp>
      <p:sp>
        <p:nvSpPr>
          <p:cNvPr id="33" name="Text 31"/>
          <p:cNvSpPr/>
          <p:nvPr/>
        </p:nvSpPr>
        <p:spPr>
          <a:xfrm>
            <a:off x="5852160" y="1216152"/>
            <a:ext cx="2834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A8"/>
                </a:solidFill>
              </a:rPr>
              <a:t>①  定义谓词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52160" y="1463040"/>
            <a:ext cx="28346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A3A"/>
                </a:solidFill>
              </a:rPr>
              <a:t>将 PyTorch 神经网络包装为 LTN 谓词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A3A"/>
                </a:solidFill>
              </a:rPr>
              <a:t>输出 sigmoid → [0,1]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687568" y="1920240"/>
            <a:ext cx="3136392" cy="658368"/>
          </a:xfrm>
          <a:prstGeom prst="rect">
            <a:avLst/>
          </a:prstGeom>
          <a:solidFill>
            <a:srgbClr val="F7FAFF"/>
          </a:solidFill>
          <a:ln w="12700">
            <a:solidFill>
              <a:srgbClr val="93C5E8"/>
            </a:solidFill>
            <a:prstDash val="solid"/>
          </a:ln>
          <a:effectLst>
            <a:outerShdw blurRad="63500" dist="25400" dir="8100000" algn="bl" rotWithShape="0">
              <a:srgbClr val="B0C4DE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687568" y="1920240"/>
            <a:ext cx="64008" cy="658368"/>
          </a:xfrm>
          <a:prstGeom prst="rect">
            <a:avLst/>
          </a:prstGeom>
          <a:solidFill>
            <a:srgbClr val="3B82C4"/>
          </a:solidFill>
        </p:spPr>
      </p:sp>
      <p:sp>
        <p:nvSpPr>
          <p:cNvPr id="37" name="Text 35"/>
          <p:cNvSpPr/>
          <p:nvPr/>
        </p:nvSpPr>
        <p:spPr>
          <a:xfrm>
            <a:off x="5852160" y="1965960"/>
            <a:ext cx="2834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C4"/>
                </a:solidFill>
              </a:rPr>
              <a:t>②  定义算子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852160" y="2212848"/>
            <a:ext cx="28346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A3A"/>
                </a:solidFill>
              </a:rPr>
              <a:t>选择模糊语义（NotStandard = 1−u）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A3A"/>
                </a:solidFill>
              </a:rPr>
              <a:t>AggregPMeanError 实现 G(∀)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87568" y="2670048"/>
            <a:ext cx="3136392" cy="658368"/>
          </a:xfrm>
          <a:prstGeom prst="rect">
            <a:avLst/>
          </a:prstGeom>
          <a:solidFill>
            <a:srgbClr val="F7FAFF"/>
          </a:solidFill>
          <a:ln w="12700">
            <a:solidFill>
              <a:srgbClr val="93C5E8"/>
            </a:solidFill>
            <a:prstDash val="solid"/>
          </a:ln>
          <a:effectLst>
            <a:outerShdw blurRad="63500" dist="25400" dir="8100000" algn="bl" rotWithShape="0">
              <a:srgbClr val="B0C4DE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687568" y="2670048"/>
            <a:ext cx="64008" cy="658368"/>
          </a:xfrm>
          <a:prstGeom prst="rect">
            <a:avLst/>
          </a:prstGeom>
          <a:solidFill>
            <a:srgbClr val="0F6B50"/>
          </a:solidFill>
        </p:spPr>
      </p:sp>
      <p:sp>
        <p:nvSpPr>
          <p:cNvPr id="41" name="Text 39"/>
          <p:cNvSpPr/>
          <p:nvPr/>
        </p:nvSpPr>
        <p:spPr>
          <a:xfrm>
            <a:off x="5852160" y="2715768"/>
            <a:ext cx="2834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B50"/>
                </a:solidFill>
              </a:rPr>
              <a:t>③  变量接地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852160" y="2962656"/>
            <a:ext cx="28346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A3A"/>
                </a:solidFill>
              </a:rPr>
              <a:t>ltn.Variable 把图片批次绑定到逻辑变量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A3A"/>
                </a:solidFill>
              </a:rPr>
              <a:t>即 Grounding 操作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687568" y="3419856"/>
            <a:ext cx="3136392" cy="658368"/>
          </a:xfrm>
          <a:prstGeom prst="rect">
            <a:avLst/>
          </a:prstGeom>
          <a:solidFill>
            <a:srgbClr val="F7FAFF"/>
          </a:solidFill>
          <a:ln w="12700">
            <a:solidFill>
              <a:srgbClr val="93C5E8"/>
            </a:solidFill>
            <a:prstDash val="solid"/>
          </a:ln>
          <a:effectLst>
            <a:outerShdw blurRad="63500" dist="25400" dir="8100000" algn="bl" rotWithShape="0">
              <a:srgbClr val="B0C4DE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687568" y="3419856"/>
            <a:ext cx="64008" cy="658368"/>
          </a:xfrm>
          <a:prstGeom prst="rect">
            <a:avLst/>
          </a:prstGeom>
          <a:solidFill>
            <a:srgbClr val="C2530A"/>
          </a:solidFill>
        </p:spPr>
      </p:sp>
      <p:sp>
        <p:nvSpPr>
          <p:cNvPr id="45" name="Text 43"/>
          <p:cNvSpPr/>
          <p:nvPr/>
        </p:nvSpPr>
        <p:spPr>
          <a:xfrm>
            <a:off x="5852160" y="3465576"/>
            <a:ext cx="2834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530A"/>
                </a:solidFill>
              </a:rPr>
              <a:t>④  计算损失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852160" y="3712464"/>
            <a:ext cx="28346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A3A"/>
                </a:solidFill>
              </a:rPr>
              <a:t>SatAgg 聚合知识库满足度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A3A"/>
                </a:solidFill>
              </a:rPr>
              <a:t>loss = 1 − SatAgg 即为损失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687568" y="4169664"/>
            <a:ext cx="3136392" cy="658368"/>
          </a:xfrm>
          <a:prstGeom prst="rect">
            <a:avLst/>
          </a:prstGeom>
          <a:solidFill>
            <a:srgbClr val="F7FAFF"/>
          </a:solidFill>
          <a:ln w="12700">
            <a:solidFill>
              <a:srgbClr val="93C5E8"/>
            </a:solidFill>
            <a:prstDash val="solid"/>
          </a:ln>
          <a:effectLst>
            <a:outerShdw blurRad="63500" dist="25400" dir="8100000" algn="bl" rotWithShape="0">
              <a:srgbClr val="B0C4DE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687568" y="4169664"/>
            <a:ext cx="64008" cy="658368"/>
          </a:xfrm>
          <a:prstGeom prst="rect">
            <a:avLst/>
          </a:prstGeom>
          <a:solidFill>
            <a:srgbClr val="1B3A6B"/>
          </a:solidFill>
        </p:spPr>
      </p:sp>
      <p:sp>
        <p:nvSpPr>
          <p:cNvPr id="49" name="Text 47"/>
          <p:cNvSpPr/>
          <p:nvPr/>
        </p:nvSpPr>
        <p:spPr>
          <a:xfrm>
            <a:off x="5852160" y="4215384"/>
            <a:ext cx="2834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⑤  梯度反传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852160" y="4462272"/>
            <a:ext cx="28346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A3A"/>
                </a:solidFill>
              </a:rPr>
              <a:t>loss.backward() 与标准 PyTorch 完全相同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A3A"/>
                </a:solidFill>
              </a:rPr>
              <a:t>梯度穿越逻辑计算图反传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</p:spPr>
      </p:sp>
      <p:sp>
        <p:nvSpPr>
          <p:cNvPr id="3" name="Text 1"/>
          <p:cNvSpPr/>
          <p:nvPr/>
        </p:nvSpPr>
        <p:spPr>
          <a:xfrm>
            <a:off x="347472" y="0"/>
            <a:ext cx="85953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总结：贡献、与 SBR 对比、展望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5120640" cy="1956816"/>
          </a:xfrm>
          <a:prstGeom prst="rect">
            <a:avLst/>
          </a:prstGeom>
          <a:solidFill>
            <a:srgbClr val="F7FAFF"/>
          </a:solidFill>
          <a:ln w="12700">
            <a:solidFill>
              <a:srgbClr val="93C5E8"/>
            </a:solidFill>
            <a:prstDash val="solid"/>
          </a:ln>
          <a:effectLst>
            <a:outerShdw blurRad="63500" dist="25400" dir="8100000" algn="bl" rotWithShape="0">
              <a:srgbClr val="B0C4D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64008" cy="1956816"/>
          </a:xfrm>
          <a:prstGeom prst="rect">
            <a:avLst/>
          </a:prstGeom>
          <a:solidFill>
            <a:srgbClr val="2563A8"/>
          </a:solidFill>
        </p:spPr>
      </p:sp>
      <p:sp>
        <p:nvSpPr>
          <p:cNvPr id="6" name="Text 4"/>
          <p:cNvSpPr/>
          <p:nvPr/>
        </p:nvSpPr>
        <p:spPr>
          <a:xfrm>
            <a:off x="502920" y="877824"/>
            <a:ext cx="4754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🏆  LTNtorch 的核心贡献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25296"/>
            <a:ext cx="477316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C4"/>
                </a:solidFill>
              </a:rPr>
              <a:t>① Real Logic 形式化：</a:t>
            </a:r>
            <a:r>
              <a:rPr lang="en-US" sz="1100" dirty="0">
                <a:solidFill>
                  <a:srgbClr val="1E2A3A"/>
                </a:solidFill>
              </a:rPr>
              <a:t>完全可微的一阶逻辑语言，所有符号映射到实数张量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609344"/>
            <a:ext cx="477316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C4"/>
                </a:solidFill>
              </a:rPr>
              <a:t>② 三种模糊语义：</a:t>
            </a:r>
            <a:r>
              <a:rPr lang="en-US" sz="1100" dirty="0">
                <a:solidFill>
                  <a:srgbClr val="1E2A3A"/>
                </a:solidFill>
              </a:rPr>
              <a:t>Product / Gödel / Łukasiewicz，支持灵活选择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477316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C4"/>
                </a:solidFill>
              </a:rPr>
              <a:t>③ PyTorch 原生实现：</a:t>
            </a:r>
            <a:r>
              <a:rPr lang="en-US" sz="1100" dirty="0">
                <a:solidFill>
                  <a:srgbClr val="1E2A3A"/>
                </a:solidFill>
              </a:rPr>
              <a:t>无缝集成神经网络，与标准训练流程兼容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377440"/>
            <a:ext cx="477316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C4"/>
                </a:solidFill>
              </a:rPr>
              <a:t>④ 完整文档与测试：</a:t>
            </a:r>
            <a:r>
              <a:rPr lang="en-US" sz="1100" dirty="0">
                <a:solidFill>
                  <a:srgbClr val="1E2A3A"/>
                </a:solidFill>
              </a:rPr>
              <a:t>开源可复现，降低 NeSy 研究门槛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822960"/>
            <a:ext cx="3246120" cy="1956816"/>
          </a:xfrm>
          <a:prstGeom prst="rect">
            <a:avLst/>
          </a:prstGeom>
          <a:solidFill>
            <a:srgbClr val="F7FAFF"/>
          </a:solidFill>
          <a:ln w="12700">
            <a:solidFill>
              <a:srgbClr val="93C5E8"/>
            </a:solidFill>
            <a:prstDash val="solid"/>
          </a:ln>
          <a:effectLst>
            <a:outerShdw blurRad="63500" dist="25400" dir="8100000" algn="bl" rotWithShape="0">
              <a:srgbClr val="B0C4DE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577840" y="822960"/>
            <a:ext cx="64008" cy="1956816"/>
          </a:xfrm>
          <a:prstGeom prst="rect">
            <a:avLst/>
          </a:prstGeom>
          <a:solidFill>
            <a:srgbClr val="3B82C4"/>
          </a:solidFill>
        </p:spPr>
      </p:sp>
      <p:sp>
        <p:nvSpPr>
          <p:cNvPr id="13" name="Text 11"/>
          <p:cNvSpPr/>
          <p:nvPr/>
        </p:nvSpPr>
        <p:spPr>
          <a:xfrm>
            <a:off x="5760720" y="877824"/>
            <a:ext cx="2926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与 SBR 框架对比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5760720" y="1225296"/>
          <a:ext cx="2926080" cy="1463040"/>
        </p:xfrm>
        <a:graphic>
          <a:graphicData uri="http://schemas.openxmlformats.org/drawingml/2006/table">
            <a:tbl>
              <a:tblPr/>
              <a:tblGrid>
                <a:gridCol w="975360"/>
                <a:gridCol w="975360"/>
                <a:gridCol w="975360"/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维度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SBR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LTN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底层学习器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核机器 SVM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神经网络 CNN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逻辑语言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FOL+T范数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Real Logic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实现框架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自定义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PyTorch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核心思想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6B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一致 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6B5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一致 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20040" y="2889504"/>
            <a:ext cx="2468880" cy="1517904"/>
          </a:xfrm>
          <a:prstGeom prst="rect">
            <a:avLst/>
          </a:prstGeom>
          <a:solidFill>
            <a:srgbClr val="F7FAFF"/>
          </a:solidFill>
          <a:ln w="12700">
            <a:solidFill>
              <a:srgbClr val="93C5E8"/>
            </a:solidFill>
            <a:prstDash val="solid"/>
          </a:ln>
          <a:effectLst>
            <a:outerShdw blurRad="63500" dist="25400" dir="8100000" algn="bl" rotWithShape="0">
              <a:srgbClr val="B0C4DE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" y="2889504"/>
            <a:ext cx="64008" cy="1517904"/>
          </a:xfrm>
          <a:prstGeom prst="rect">
            <a:avLst/>
          </a:prstGeom>
          <a:solidFill>
            <a:srgbClr val="B91C1C"/>
          </a:solidFill>
        </p:spPr>
      </p:sp>
      <p:sp>
        <p:nvSpPr>
          <p:cNvPr id="17" name="Text 14"/>
          <p:cNvSpPr/>
          <p:nvPr/>
        </p:nvSpPr>
        <p:spPr>
          <a:xfrm>
            <a:off x="502920" y="2944368"/>
            <a:ext cx="215798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1C1C"/>
                </a:solidFill>
              </a:rPr>
              <a:t>⚠️  局限性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02920" y="3273552"/>
            <a:ext cx="2157984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• 大规模知识库接地数量指数增长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02920" y="3621024"/>
            <a:ext cx="2157984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• 模糊语义选择影响训练效果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02920" y="3968496"/>
            <a:ext cx="2157984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• 本文仅展示二分类简单案例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2926080" y="2889504"/>
            <a:ext cx="2377440" cy="1517904"/>
          </a:xfrm>
          <a:prstGeom prst="rect">
            <a:avLst/>
          </a:prstGeom>
          <a:solidFill>
            <a:srgbClr val="D1FAE5"/>
          </a:solidFill>
          <a:ln w="12700">
            <a:solidFill>
              <a:srgbClr val="93C5E8"/>
            </a:solidFill>
            <a:prstDash val="solid"/>
          </a:ln>
          <a:effectLst>
            <a:outerShdw blurRad="63500" dist="25400" dir="8100000" algn="bl" rotWithShape="0">
              <a:srgbClr val="B0C4DE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926080" y="2889504"/>
            <a:ext cx="64008" cy="1517904"/>
          </a:xfrm>
          <a:prstGeom prst="rect">
            <a:avLst/>
          </a:prstGeom>
          <a:solidFill>
            <a:srgbClr val="0F6B50"/>
          </a:solidFill>
        </p:spPr>
      </p:sp>
      <p:sp>
        <p:nvSpPr>
          <p:cNvPr id="23" name="Text 20"/>
          <p:cNvSpPr/>
          <p:nvPr/>
        </p:nvSpPr>
        <p:spPr>
          <a:xfrm>
            <a:off x="3108960" y="2944368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B50"/>
                </a:solidFill>
              </a:rPr>
              <a:t>💡  未来方向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108960" y="3273552"/>
            <a:ext cx="20116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• 更复杂的关系学习任务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3108960" y="3621024"/>
            <a:ext cx="20116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• 与图神经网络结合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108960" y="3968496"/>
            <a:ext cx="20116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A"/>
                </a:solidFill>
              </a:rPr>
              <a:t>• 大语言模型 + 逻辑规则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577840" y="2889504"/>
            <a:ext cx="3246120" cy="1517904"/>
          </a:xfrm>
          <a:prstGeom prst="rect">
            <a:avLst/>
          </a:prstGeom>
          <a:solidFill>
            <a:srgbClr val="FEF3C7"/>
          </a:solidFill>
          <a:ln w="12700">
            <a:solidFill>
              <a:srgbClr val="93C5E8"/>
            </a:solidFill>
            <a:prstDash val="solid"/>
          </a:ln>
          <a:effectLst>
            <a:outerShdw blurRad="63500" dist="25400" dir="8100000" algn="bl" rotWithShape="0">
              <a:srgbClr val="B0C4DE">
                <a:alpha val="1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577840" y="2889504"/>
            <a:ext cx="64008" cy="1517904"/>
          </a:xfrm>
          <a:prstGeom prst="rect">
            <a:avLst/>
          </a:prstGeom>
          <a:solidFill>
            <a:srgbClr val="C2530A"/>
          </a:solidFill>
        </p:spPr>
      </p:sp>
      <p:sp>
        <p:nvSpPr>
          <p:cNvPr id="29" name="Text 26"/>
          <p:cNvSpPr/>
          <p:nvPr/>
        </p:nvSpPr>
        <p:spPr>
          <a:xfrm>
            <a:off x="5760720" y="2944368"/>
            <a:ext cx="2834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530A"/>
                </a:solidFill>
              </a:rPr>
              <a:t>🔑  核心洞见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760720" y="3273552"/>
            <a:ext cx="2834640" cy="10607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</a:rPr>
              <a:t>LTN = 神经网络的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</a:rPr>
              <a:t>「逻辑规则化」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</a:rPr>
              <a:t>用可微分的逻辑公式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</a:rPr>
              <a:t>替代交叉熵损失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20040" y="4553712"/>
            <a:ext cx="8503920" cy="438912"/>
          </a:xfrm>
          <a:prstGeom prst="rect">
            <a:avLst/>
          </a:prstGeom>
          <a:solidFill>
            <a:srgbClr val="1B3A6B"/>
          </a:solidFill>
        </p:spPr>
      </p:sp>
      <p:sp>
        <p:nvSpPr>
          <p:cNvPr id="32" name="Text 29"/>
          <p:cNvSpPr/>
          <p:nvPr/>
        </p:nvSpPr>
        <p:spPr>
          <a:xfrm>
            <a:off x="320040" y="4553712"/>
            <a:ext cx="8503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BEAFE"/>
                </a:solidFill>
              </a:rPr>
              <a:t>LTNtorch 让「神经符号集成」变得触手可及：用几行 PyTorch 代码，即可让神经网络在逻辑知识的指导下学习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194560"/>
          </a:xfrm>
          <a:prstGeom prst="rect">
            <a:avLst/>
          </a:prstGeom>
          <a:solidFill>
            <a:srgbClr val="1B3A6B"/>
          </a:solidFill>
        </p:spPr>
      </p:sp>
      <p:sp>
        <p:nvSpPr>
          <p:cNvPr id="3" name="Shape 1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243F70">
              <a:alpha val="5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7772400" y="91440"/>
            <a:ext cx="1828800" cy="1828800"/>
          </a:xfrm>
          <a:prstGeom prst="ellipse">
            <a:avLst/>
          </a:prstGeom>
          <a:solidFill>
            <a:srgbClr val="3B82C4">
              <a:alpha val="4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DBEAFE"/>
          </a:solidFill>
        </p:spPr>
      </p:sp>
      <p:sp>
        <p:nvSpPr>
          <p:cNvPr id="6" name="Text 4"/>
          <p:cNvSpPr/>
          <p:nvPr/>
        </p:nvSpPr>
        <p:spPr>
          <a:xfrm>
            <a:off x="502920" y="201168"/>
            <a:ext cx="64008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谢谢！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6400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ACCEE"/>
                </a:solidFill>
              </a:rPr>
              <a:t>Thank You 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2377440"/>
            <a:ext cx="8046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</a:rPr>
              <a:t>LTNtorch: PyTorch Implementation of Logic Tensor Networks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761488"/>
            <a:ext cx="8046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</a:rPr>
              <a:t>Carraro, Serafini &amp; Aiolli  ·  JMLR 25 (2024)  ·  arXiv:2409.16045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200400"/>
            <a:ext cx="80467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A8"/>
                </a:solidFill>
              </a:rPr>
              <a:t>🔗  github.com/tommasocarraro/LTNtorch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657600"/>
            <a:ext cx="2487168" cy="347472"/>
          </a:xfrm>
          <a:prstGeom prst="roundRect">
            <a:avLst>
              <a:gd name="adj" fmla="val 15789"/>
            </a:avLst>
          </a:prstGeom>
          <a:solidFill>
            <a:srgbClr val="DBEAFE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657600"/>
            <a:ext cx="248716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6B"/>
                </a:solidFill>
              </a:rPr>
              <a:t>Neural-Symbolic AI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3657600"/>
            <a:ext cx="2487168" cy="347472"/>
          </a:xfrm>
          <a:prstGeom prst="roundRect">
            <a:avLst>
              <a:gd name="adj" fmla="val 15789"/>
            </a:avLst>
          </a:prstGeom>
          <a:solidFill>
            <a:srgbClr val="DBEAFE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3657600"/>
            <a:ext cx="248716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6B"/>
                </a:solidFill>
              </a:rPr>
              <a:t>Real Logic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97880" y="3657600"/>
            <a:ext cx="2487168" cy="347472"/>
          </a:xfrm>
          <a:prstGeom prst="roundRect">
            <a:avLst>
              <a:gd name="adj" fmla="val 15789"/>
            </a:avLst>
          </a:prstGeom>
          <a:solidFill>
            <a:srgbClr val="DBEAFE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7880" y="3657600"/>
            <a:ext cx="248716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6B"/>
                </a:solidFill>
              </a:rPr>
              <a:t>Fuzzy Logic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114800"/>
            <a:ext cx="2487168" cy="347472"/>
          </a:xfrm>
          <a:prstGeom prst="roundRect">
            <a:avLst>
              <a:gd name="adj" fmla="val 15789"/>
            </a:avLst>
          </a:prstGeom>
          <a:solidFill>
            <a:srgbClr val="DBEAFE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114800"/>
            <a:ext cx="248716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6B"/>
                </a:solidFill>
              </a:rPr>
              <a:t>PyTorch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4114800"/>
            <a:ext cx="2487168" cy="347472"/>
          </a:xfrm>
          <a:prstGeom prst="roundRect">
            <a:avLst>
              <a:gd name="adj" fmla="val 15789"/>
            </a:avLst>
          </a:prstGeom>
          <a:solidFill>
            <a:srgbClr val="DBEAFE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4114800"/>
            <a:ext cx="248716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6B"/>
                </a:solidFill>
              </a:rPr>
              <a:t>Gradient Descent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97880" y="4114800"/>
            <a:ext cx="2487168" cy="347472"/>
          </a:xfrm>
          <a:prstGeom prst="roundRect">
            <a:avLst>
              <a:gd name="adj" fmla="val 15789"/>
            </a:avLst>
          </a:prstGeom>
          <a:solidFill>
            <a:srgbClr val="DBEAFE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4114800"/>
            <a:ext cx="248716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6B"/>
                </a:solidFill>
              </a:rPr>
              <a:t>Knowledge Base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4973</Words>
  <Application>WPS 演示</Application>
  <PresentationFormat>On-screen Show (16:9)</PresentationFormat>
  <Paragraphs>553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Calibri</vt:lpstr>
      <vt:lpstr>Calibri</vt:lpstr>
      <vt:lpstr>Calibri</vt:lpstr>
      <vt:lpstr>Consolas</vt:lpstr>
      <vt:lpstr>Consolas</vt:lpstr>
      <vt:lpstr>Consolas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LTNtorch: PyTorch Implementation of Logic Tensor Networks</dc:title>
  <dc:creator>PptxGenJS</dc:creator>
  <dc:subject>PptxGenJS Presentation</dc:subject>
  <cp:lastModifiedBy>WPS_1669272209</cp:lastModifiedBy>
  <cp:revision>2</cp:revision>
  <dcterms:created xsi:type="dcterms:W3CDTF">2026-05-17T02:34:00Z</dcterms:created>
  <dcterms:modified xsi:type="dcterms:W3CDTF">2026-05-17T04:27:07Z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37E967A4879148C884AAA4DDB7A5E61C_13</vt:lpwstr>
  </property>
</Properties>
</file>