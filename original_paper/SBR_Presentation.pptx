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F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7F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SVM</c:v>
                </c:pt>
                <c:pt idx="1">
                  <c:v>TSVM</c:v>
                </c:pt>
                <c:pt idx="2">
                  <c:v>MLN</c:v>
                </c:pt>
                <c:pt idx="3">
                  <c:v>HMLN</c:v>
                </c:pt>
                <c:pt idx="4">
                  <c:v>PSL-SVM</c:v>
                </c:pt>
                <c:pt idx="5">
                  <c:v>PSL-TSVM</c:v>
                </c:pt>
                <c:pt idx="6">
                  <c:v>SBR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0.211</c:v>
                </c:pt>
                <c:pt idx="1">
                  <c:v>0.357</c:v>
                </c:pt>
                <c:pt idx="2">
                  <c:v>0.272</c:v>
                </c:pt>
                <c:pt idx="3">
                  <c:v>0.257</c:v>
                </c:pt>
                <c:pt idx="4">
                  <c:v>0.258</c:v>
                </c:pt>
                <c:pt idx="5">
                  <c:v>0.396</c:v>
                </c:pt>
                <c:pt idx="6">
                  <c:v>0.511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</c:scaling>
        <c:delete val="0"/>
        <c:axPos val="l"/>
        <c:majorGridlines>
          <c:spPr>
            <a:ln w="6350" cap="flat" cmpd="sng" algn="ctr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1677fde-6a4d-4b78-a9c7-f51fa73fe2e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网页 F1</c:v>
                </c:pt>
              </c:strCache>
            </c:strRef>
          </c:tx>
          <c:spPr>
            <a:solidFill>
              <a:srgbClr val="1A3A8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MLN</c:v>
                </c:pt>
                <c:pt idx="2">
                  <c:v>PSL</c:v>
                </c:pt>
                <c:pt idx="3">
                  <c:v>SBR-CC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0.768</c:v>
                </c:pt>
                <c:pt idx="1">
                  <c:v>0.73</c:v>
                </c:pt>
                <c:pt idx="2">
                  <c:v>0.777</c:v>
                </c:pt>
                <c:pt idx="3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链接 F1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MLN</c:v>
                </c:pt>
                <c:pt idx="2">
                  <c:v>PSL</c:v>
                </c:pt>
                <c:pt idx="3">
                  <c:v>SBR-CC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0.319</c:v>
                </c:pt>
                <c:pt idx="1">
                  <c:v>0.564</c:v>
                </c:pt>
                <c:pt idx="2">
                  <c:v>0.51</c:v>
                </c:pt>
                <c:pt idx="3">
                  <c:v>0.7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d363d82-0e35-4cc9-9939-4dd4d30685a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4" name="Shape 2"/>
          <p:cNvSpPr/>
          <p:nvPr/>
        </p:nvSpPr>
        <p:spPr>
          <a:xfrm>
            <a:off x="6693535" y="1353185"/>
            <a:ext cx="2926080" cy="2926080"/>
          </a:xfrm>
          <a:prstGeom prst="ellipse">
            <a:avLst/>
          </a:prstGeom>
          <a:solidFill>
            <a:srgbClr val="1E3A7A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563485" y="1964055"/>
            <a:ext cx="1828800" cy="1828800"/>
          </a:xfrm>
          <a:prstGeom prst="ellipse">
            <a:avLst/>
          </a:prstGeom>
          <a:solidFill>
            <a:srgbClr val="4A9FD4">
              <a:alpha val="3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457200" y="367665"/>
            <a:ext cx="7772400" cy="16776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Semantic-Based Regularization </a:t>
            </a:r>
            <a:r>
              <a:rPr lang="en-US" sz="3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for Learning and Inference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zh-CN" altLang="en-US" sz="3400" dirty="0">
                <a:solidFill>
                  <a:schemeClr val="bg1"/>
                </a:solidFill>
              </a:rPr>
              <a:t>基于语义的规范化学习与推理</a:t>
            </a:r>
            <a:endParaRPr lang="zh-CN" altLang="en-US" sz="3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943600" cy="36576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9" name="Text 7"/>
          <p:cNvSpPr/>
          <p:nvPr/>
        </p:nvSpPr>
        <p:spPr>
          <a:xfrm>
            <a:off x="457200" y="2487168"/>
            <a:ext cx="7772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Michelangelo Diligenti  ·  Marco Gori  ·  Claudio Saccà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183380" cy="438785"/>
          </a:xfrm>
          <a:prstGeom prst="roundRect">
            <a:avLst>
              <a:gd name="adj" fmla="val 12500"/>
            </a:avLst>
          </a:prstGeom>
          <a:solidFill>
            <a:srgbClr val="1A3A8F"/>
          </a:solidFill>
        </p:spPr>
      </p:sp>
      <p:sp>
        <p:nvSpPr>
          <p:cNvPr id="12" name="Text 10"/>
          <p:cNvSpPr/>
          <p:nvPr/>
        </p:nvSpPr>
        <p:spPr>
          <a:xfrm>
            <a:off x="457200" y="3291840"/>
            <a:ext cx="4161790" cy="4387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Artificial Intelligence 244 (2017) 143–165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目录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932688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32688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7" name="Text 5"/>
          <p:cNvSpPr/>
          <p:nvPr/>
        </p:nvSpPr>
        <p:spPr>
          <a:xfrm>
            <a:off x="420624" y="969264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969264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研究动机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31673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两大阵营的鸿沟与统一挑战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932688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932688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12" name="Text 10"/>
          <p:cNvSpPr/>
          <p:nvPr/>
        </p:nvSpPr>
        <p:spPr>
          <a:xfrm>
            <a:off x="4882896" y="969264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58384" y="969264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核心思想：语义正则化 (SBR)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58384" y="131673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用约束统一一切知识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828800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28800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17" name="Text 15"/>
          <p:cNvSpPr/>
          <p:nvPr/>
        </p:nvSpPr>
        <p:spPr>
          <a:xfrm>
            <a:off x="420624" y="1865376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1865376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模糊一阶逻辑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212848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T-范数 · 量词连续化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8304" y="1828800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828800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2" name="Text 20"/>
          <p:cNvSpPr/>
          <p:nvPr/>
        </p:nvSpPr>
        <p:spPr>
          <a:xfrm>
            <a:off x="4882896" y="1865376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58384" y="1865376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数学框架与多层架构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58384" y="2212848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代价函数 · 核展开 · 反向传播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724912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724912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7" name="Text 25"/>
          <p:cNvSpPr/>
          <p:nvPr/>
        </p:nvSpPr>
        <p:spPr>
          <a:xfrm>
            <a:off x="420624" y="2761488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12" y="276148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统一经典方法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310896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SVM · 流形正则化 · TSVM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18304" y="2724912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724912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32" name="Text 30"/>
          <p:cNvSpPr/>
          <p:nvPr/>
        </p:nvSpPr>
        <p:spPr>
          <a:xfrm>
            <a:off x="4882896" y="2761488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58384" y="276148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训练策略 &amp; 集体分类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58384" y="310896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DOM启发式 · 测试阶段优化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3621024"/>
            <a:ext cx="4206240" cy="7498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621024"/>
            <a:ext cx="91440" cy="74980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37" name="Text 35"/>
          <p:cNvSpPr/>
          <p:nvPr/>
        </p:nvSpPr>
        <p:spPr>
          <a:xfrm>
            <a:off x="420624" y="3657600"/>
            <a:ext cx="457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6112" y="365760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概率解释与实验结果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6112" y="400507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MFLN · CORA · WebKB · Arnetminer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研究动机：机器学习领域的两大鸿沟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914400"/>
            <a:ext cx="3291840" cy="3566160"/>
          </a:xfrm>
          <a:prstGeom prst="rect">
            <a:avLst/>
          </a:prstGeom>
          <a:solidFill>
            <a:srgbClr val="EBF3F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3291840" cy="420624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7" name="Text 5"/>
          <p:cNvSpPr/>
          <p:nvPr/>
        </p:nvSpPr>
        <p:spPr>
          <a:xfrm>
            <a:off x="256032" y="914400"/>
            <a:ext cx="3291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传统机器学习 (SVM等)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处理高维数字特征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773936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强大的泛化能力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121408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成熟的优化理论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468880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❌  不理解逻辑关系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816352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❌  无法利用先验知识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3163824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❌  忽略实体间关系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96128" y="914400"/>
            <a:ext cx="3291840" cy="3566160"/>
          </a:xfrm>
          <a:prstGeom prst="rect">
            <a:avLst/>
          </a:prstGeom>
          <a:solidFill>
            <a:srgbClr val="FFF7E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96128" y="914400"/>
            <a:ext cx="3291840" cy="420624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6" name="Text 14"/>
          <p:cNvSpPr/>
          <p:nvPr/>
        </p:nvSpPr>
        <p:spPr>
          <a:xfrm>
            <a:off x="5596128" y="914400"/>
            <a:ext cx="3291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统计关系学习 (MLN等)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87568" y="1426464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逻辑推理能力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7568" y="1773936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利用先验知识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7568" y="2121408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建模实体关系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2468880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❌  无法高效处理特征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87568" y="2816352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❌  需要大量规则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7568" y="3163824"/>
            <a:ext cx="309067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❌  底层分类器冻结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03320" y="1645920"/>
            <a:ext cx="1737360" cy="1371600"/>
          </a:xfrm>
          <a:prstGeom prst="rect">
            <a:avLst/>
          </a:prstGeom>
          <a:solidFill>
            <a:srgbClr val="0D1B4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03320" y="1691640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FD4"/>
                </a:solidFill>
              </a:rPr>
              <a:t>SBR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03320" y="2212848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语义正则化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47872" y="2148840"/>
            <a:ext cx="201168" cy="73152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7" name="Shape 25"/>
          <p:cNvSpPr/>
          <p:nvPr/>
        </p:nvSpPr>
        <p:spPr>
          <a:xfrm>
            <a:off x="3547872" y="2221992"/>
            <a:ext cx="201168" cy="73152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8" name="Shape 26"/>
          <p:cNvSpPr/>
          <p:nvPr/>
        </p:nvSpPr>
        <p:spPr>
          <a:xfrm>
            <a:off x="5394960" y="2148840"/>
            <a:ext cx="201168" cy="73152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9" name="Shape 27"/>
          <p:cNvSpPr/>
          <p:nvPr/>
        </p:nvSpPr>
        <p:spPr>
          <a:xfrm>
            <a:off x="5394960" y="2221992"/>
            <a:ext cx="201168" cy="73152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0" name="Shape 28"/>
          <p:cNvSpPr/>
          <p:nvPr/>
        </p:nvSpPr>
        <p:spPr>
          <a:xfrm>
            <a:off x="256032" y="4617720"/>
            <a:ext cx="8631936" cy="402336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1" name="Text 29"/>
          <p:cNvSpPr/>
          <p:nvPr/>
        </p:nvSpPr>
        <p:spPr>
          <a:xfrm>
            <a:off x="256032" y="4617720"/>
            <a:ext cx="8631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核心问题：如何在同一框架内，既能处理数字特征，又能使用逻辑知识进行高层推理？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核心思想：用「约束」统一一切知识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5905" y="914400"/>
            <a:ext cx="2743200" cy="27813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2743200" cy="502920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7" name="Text 5"/>
          <p:cNvSpPr/>
          <p:nvPr/>
        </p:nvSpPr>
        <p:spPr>
          <a:xfrm>
            <a:off x="256032" y="91440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监督样本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这张图片是猫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29384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这篇论文属于类别A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50008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正例 / 负例标注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2523744" cy="329184"/>
          </a:xfrm>
          <a:prstGeom prst="rect">
            <a:avLst/>
          </a:prstGeom>
          <a:solidFill>
            <a:srgbClr val="E5EAF2"/>
          </a:solidFill>
        </p:spPr>
      </p:sp>
      <p:sp>
        <p:nvSpPr>
          <p:cNvPr id="12" name="Text 10"/>
          <p:cNvSpPr/>
          <p:nvPr/>
        </p:nvSpPr>
        <p:spPr>
          <a:xfrm>
            <a:off x="365760" y="2816352"/>
            <a:ext cx="252374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8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max(0, 1−f(x)) =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90472" y="4160520"/>
            <a:ext cx="274320" cy="365760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4" name="Text 12"/>
          <p:cNvSpPr/>
          <p:nvPr/>
        </p:nvSpPr>
        <p:spPr>
          <a:xfrm>
            <a:off x="1444752" y="4462272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3A8F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43200" cy="27813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7" name="Text 15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逻辑规则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508760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引用关系→同类论文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1929384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A蕴含B的层次关系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2350008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互斥分类约束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2816352"/>
            <a:ext cx="2523744" cy="329184"/>
          </a:xfrm>
          <a:prstGeom prst="rect">
            <a:avLst/>
          </a:prstGeom>
          <a:solidFill>
            <a:srgbClr val="E5EAF2"/>
          </a:solidFill>
        </p:spPr>
      </p:sp>
      <p:sp>
        <p:nvSpPr>
          <p:cNvPr id="22" name="Text 20"/>
          <p:cNvSpPr/>
          <p:nvPr/>
        </p:nvSpPr>
        <p:spPr>
          <a:xfrm>
            <a:off x="3310128" y="2816352"/>
            <a:ext cx="252374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 A(x)⇒B(x)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4160520"/>
            <a:ext cx="274320" cy="3657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4" name="Text 22"/>
          <p:cNvSpPr/>
          <p:nvPr/>
        </p:nvSpPr>
        <p:spPr>
          <a:xfrm>
            <a:off x="4389120" y="4462272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</a:rPr>
              <a:t>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44895" y="914400"/>
            <a:ext cx="2743200" cy="27813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914400"/>
            <a:ext cx="274320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7" name="Text 25"/>
          <p:cNvSpPr/>
          <p:nvPr/>
        </p:nvSpPr>
        <p:spPr>
          <a:xfrm>
            <a:off x="6144768" y="91440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流形假设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54496" y="1508760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相似的点同标签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1929384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超链接连通性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4496" y="2350008"/>
            <a:ext cx="2523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共同作者关系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54496" y="2816352"/>
            <a:ext cx="2523744" cy="329184"/>
          </a:xfrm>
          <a:prstGeom prst="rect">
            <a:avLst/>
          </a:prstGeom>
          <a:solidFill>
            <a:srgbClr val="E5EAF2"/>
          </a:solidFill>
        </p:spPr>
      </p:sp>
      <p:sp>
        <p:nvSpPr>
          <p:cNvPr id="32" name="Text 30"/>
          <p:cNvSpPr/>
          <p:nvPr/>
        </p:nvSpPr>
        <p:spPr>
          <a:xfrm>
            <a:off x="6254496" y="2816352"/>
            <a:ext cx="252374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R(x,y)⇒p(x)≈p(y)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79208" y="4160520"/>
            <a:ext cx="274320" cy="36576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4" name="Text 32"/>
          <p:cNvSpPr/>
          <p:nvPr/>
        </p:nvSpPr>
        <p:spPr>
          <a:xfrm>
            <a:off x="7333488" y="4462272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580C"/>
                </a:solidFill>
              </a:rPr>
              <a:t>▼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55905" y="3962400"/>
            <a:ext cx="8632190" cy="1085215"/>
          </a:xfrm>
          <a:prstGeom prst="rect">
            <a:avLst/>
          </a:prstGeom>
          <a:solidFill>
            <a:srgbClr val="0D1B4B"/>
          </a:solidFill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065" y="4119245"/>
            <a:ext cx="3338830" cy="86233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196340" y="4119245"/>
            <a:ext cx="1846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统一代价函数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模糊一阶逻辑：让逻辑与神经网络对接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68680"/>
            <a:ext cx="8631936" cy="420624"/>
          </a:xfrm>
          <a:prstGeom prst="rect">
            <a:avLst/>
          </a:prstGeom>
          <a:solidFill>
            <a:srgbClr val="C8DFF7"/>
          </a:solidFill>
        </p:spPr>
      </p:sp>
      <p:sp>
        <p:nvSpPr>
          <p:cNvPr id="6" name="Text 4"/>
          <p:cNvSpPr/>
          <p:nvPr/>
        </p:nvSpPr>
        <p:spPr>
          <a:xfrm>
            <a:off x="256032" y="868680"/>
            <a:ext cx="86319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</a:rPr>
              <a:t>传统逻辑：True/False 二值   →   模糊逻辑：[0, 1] 连续值，使梯度可以传播！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T-范数：逻辑运算的连续化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256032" y="1755648"/>
          <a:ext cx="5303520" cy="169164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逻辑运算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乘积T-范数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最小值T-范数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 ∧ B（与）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 × b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min(a, b)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 ∨ B（或）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1−(1−a)(1−b)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max(a, b)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¬A（非）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1 − a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1 − a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 ⇒ B（蕴含）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a₂/a₁ (if a₁&gt;a₂)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a₂ (if a₁&gt;a₂)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806440" y="1389888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量词的连续化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06440" y="1755648"/>
            <a:ext cx="3090672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6440" y="1755648"/>
            <a:ext cx="91440" cy="868680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2" name="Text 9"/>
          <p:cNvSpPr/>
          <p:nvPr/>
        </p:nvSpPr>
        <p:spPr>
          <a:xfrm>
            <a:off x="5989320" y="18013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8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∀x（全称）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89320" y="205740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avg over all 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286000"/>
            <a:ext cx="2834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用均值代替最小值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→ 梯度更稳定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06440" y="2776728"/>
            <a:ext cx="3090672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2761488"/>
            <a:ext cx="91440" cy="8686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7" name="Text 14"/>
          <p:cNvSpPr/>
          <p:nvPr/>
        </p:nvSpPr>
        <p:spPr>
          <a:xfrm>
            <a:off x="5989320" y="280720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∃x（存在）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89320" y="306324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 over all x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3230880"/>
            <a:ext cx="2834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用最大值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→ 找最佳候选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56032" y="3529584"/>
            <a:ext cx="8631936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6032" y="3529584"/>
            <a:ext cx="8631936" cy="347472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22" name="Text 19"/>
          <p:cNvSpPr/>
          <p:nvPr/>
        </p:nvSpPr>
        <p:spPr>
          <a:xfrm>
            <a:off x="256032" y="3529584"/>
            <a:ext cx="86319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模糊化的三大关键优势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38912" y="395020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8F"/>
                </a:solidFill>
              </a:rPr>
              <a:t>🔄 连续可微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38912" y="4206240"/>
            <a:ext cx="2651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逻辑公式变为连续函数，梯度下降可以训练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273552" y="395020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8F"/>
                </a:solidFill>
              </a:rPr>
              <a:t>↔️ 信息双向流动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73552" y="4206240"/>
            <a:ext cx="2651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逻辑推理结果可反向传播给底层分类器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08192" y="395020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8F"/>
                </a:solidFill>
              </a:rPr>
              <a:t>✅ 与经典逻辑一致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08192" y="4206240"/>
            <a:ext cx="2651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变量取0/1时，结果与传统逻辑完全一致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数学框架：代价函数 · 核展开 · 反向传播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7" name="Text 5"/>
          <p:cNvSpPr/>
          <p:nvPr/>
        </p:nvSpPr>
        <p:spPr>
          <a:xfrm>
            <a:off x="256032" y="1443863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FD4"/>
                </a:solidFill>
              </a:rPr>
              <a:t>        平滑正则项（防过拟合）</a:t>
            </a:r>
            <a:r>
              <a:rPr lang="en-US" sz="1100" dirty="0">
                <a:solidFill>
                  <a:srgbClr val="D97706"/>
                </a:solidFill>
              </a:rPr>
              <a:t>                              约束违反惩罚项（逻辑知识）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719072"/>
            <a:ext cx="4114800" cy="14447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719072"/>
            <a:ext cx="4114800" cy="347472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0" name="Text 8"/>
          <p:cNvSpPr/>
          <p:nvPr/>
        </p:nvSpPr>
        <p:spPr>
          <a:xfrm>
            <a:off x="256032" y="17190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1.核展开（Representer定理） </a:t>
            </a:r>
            <a:r>
              <a:rPr lang="zh-CN" altLang="en-US" sz="1200" b="1" dirty="0">
                <a:solidFill>
                  <a:srgbClr val="FFFFFF"/>
                </a:solidFill>
              </a:rPr>
              <a:t>：表示函数</a:t>
            </a:r>
            <a:endParaRPr lang="zh-CN" altLang="en-US" sz="1200" b="1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887" y="2688336"/>
            <a:ext cx="391363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</a:rPr>
              <a:t>• K(·,·) </a:t>
            </a:r>
            <a:r>
              <a:rPr lang="en-US" sz="1100" dirty="0">
                <a:solidFill>
                  <a:srgbClr val="1A1A2E"/>
                </a:solidFill>
              </a:rPr>
              <a:t>是核函数（可选线性核/RBF核）
</a:t>
            </a:r>
            <a:r>
              <a:rPr lang="en-US" sz="1100" b="1" dirty="0">
                <a:solidFill>
                  <a:srgbClr val="1A3A8F"/>
                </a:solidFill>
              </a:rPr>
              <a:t>• wₖ </a:t>
            </a:r>
            <a:r>
              <a:rPr lang="en-US" sz="1100" dirty="0">
                <a:solidFill>
                  <a:srgbClr val="1A1A2E"/>
                </a:solidFill>
              </a:rPr>
              <a:t>是通过梯度下降学习的权重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19072"/>
            <a:ext cx="4315968" cy="32552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719072"/>
            <a:ext cx="4315968" cy="347472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5" name="Text 13"/>
          <p:cNvSpPr/>
          <p:nvPr/>
        </p:nvSpPr>
        <p:spPr>
          <a:xfrm>
            <a:off x="4572000" y="1719072"/>
            <a:ext cx="43159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SBR 多层网络架构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157984"/>
            <a:ext cx="4041648" cy="566928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17" name="Shape 15"/>
          <p:cNvSpPr/>
          <p:nvPr/>
        </p:nvSpPr>
        <p:spPr>
          <a:xfrm>
            <a:off x="4709160" y="2157984"/>
            <a:ext cx="91440" cy="566928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8" name="Text 16"/>
          <p:cNvSpPr/>
          <p:nvPr/>
        </p:nvSpPr>
        <p:spPr>
          <a:xfrm>
            <a:off x="4864608" y="2194560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</a:rPr>
              <a:t>输入层（核机器）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243230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f_k(x)：核函数计算各谓词值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1371600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9FD4"/>
                </a:solidFill>
              </a:rPr>
              <a:t>↓  前向传播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2852928"/>
            <a:ext cx="4041648" cy="566928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22" name="Shape 20"/>
          <p:cNvSpPr/>
          <p:nvPr/>
        </p:nvSpPr>
        <p:spPr>
          <a:xfrm>
            <a:off x="4709160" y="2852928"/>
            <a:ext cx="91440" cy="56692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3" name="Text 21"/>
          <p:cNvSpPr/>
          <p:nvPr/>
        </p:nvSpPr>
        <p:spPr>
          <a:xfrm>
            <a:off x="4864608" y="2889504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FD4"/>
                </a:solidFill>
              </a:rPr>
              <a:t>命题层（T-范数）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12724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计算每条规则命题部分的真值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438144"/>
            <a:ext cx="1371600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9FD4"/>
                </a:solidFill>
              </a:rPr>
              <a:t>↓  前向传播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3547872"/>
            <a:ext cx="4041648" cy="566928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27" name="Shape 25"/>
          <p:cNvSpPr/>
          <p:nvPr/>
        </p:nvSpPr>
        <p:spPr>
          <a:xfrm>
            <a:off x="4709160" y="3547872"/>
            <a:ext cx="91440" cy="56692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/>
        </p:nvSpPr>
        <p:spPr>
          <a:xfrm>
            <a:off x="4864608" y="3584448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量词层（聚合）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82219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均值(∀) 或 最大值(∃) 聚合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133088"/>
            <a:ext cx="1371600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9FD4"/>
                </a:solidFill>
              </a:rPr>
              <a:t>↓  前向传播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4242816"/>
            <a:ext cx="4041648" cy="566928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2" name="Shape 30"/>
          <p:cNvSpPr/>
          <p:nvPr/>
        </p:nvSpPr>
        <p:spPr>
          <a:xfrm>
            <a:off x="4709160" y="4242816"/>
            <a:ext cx="91440" cy="566928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3" name="Text 31"/>
          <p:cNvSpPr/>
          <p:nvPr/>
        </p:nvSpPr>
        <p:spPr>
          <a:xfrm>
            <a:off x="4864608" y="4279392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输出层（代价）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451713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∑ λ(1−φ) → 梯度反向传播</a:t>
            </a:r>
            <a:r>
              <a:rPr lang="zh-CN" altLang="en-US" sz="1000" dirty="0">
                <a:solidFill>
                  <a:srgbClr val="6B7280"/>
                </a:solidFill>
              </a:rPr>
              <a:t>，</a:t>
            </a:r>
            <a:r>
              <a:rPr lang="en-US" sz="1000" dirty="0">
                <a:solidFill>
                  <a:srgbClr val="6B7280"/>
                </a:solidFill>
              </a:rPr>
              <a:t>逻辑推理的结果可以反过来改善底层分类器</a:t>
            </a:r>
            <a:endParaRPr lang="en-US" sz="1000" dirty="0">
              <a:solidFill>
                <a:srgbClr val="6B728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" y="3236976"/>
            <a:ext cx="411480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236976"/>
            <a:ext cx="4114800" cy="347472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7" name="Text 35"/>
          <p:cNvSpPr/>
          <p:nvPr/>
        </p:nvSpPr>
        <p:spPr>
          <a:xfrm>
            <a:off x="256032" y="3236976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3.双向信息流</a:t>
            </a:r>
            <a:r>
              <a:rPr lang="zh-CN" altLang="en-US" sz="1200" b="1" dirty="0">
                <a:solidFill>
                  <a:srgbClr val="FFFFFF"/>
                </a:solidFill>
              </a:rPr>
              <a:t>：梯度下降</a:t>
            </a:r>
            <a:r>
              <a:rPr lang="zh-CN" altLang="en-US" sz="1200" b="1" dirty="0">
                <a:solidFill>
                  <a:srgbClr val="FFFFFF"/>
                </a:solidFill>
              </a:rPr>
              <a:t>求解</a:t>
            </a:r>
            <a:endParaRPr lang="zh-CN" altLang="en-US" sz="1200" b="1" dirty="0">
              <a:solidFill>
                <a:srgbClr val="FFFFF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47472" y="4041648"/>
            <a:ext cx="3913632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</a:rPr>
              <a:t>前向</a:t>
            </a:r>
            <a:r>
              <a:rPr lang="en-US" sz="1100" dirty="0">
                <a:solidFill>
                  <a:srgbClr val="1A1A2E"/>
                </a:solidFill>
              </a:rPr>
              <a:t>：特征 → 核机器 → 逻辑推理 → 代价
</a:t>
            </a:r>
            <a:r>
              <a:rPr lang="en-US" sz="1100" b="1" dirty="0">
                <a:solidFill>
                  <a:srgbClr val="EA580C"/>
                </a:solidFill>
              </a:rPr>
              <a:t>反向</a:t>
            </a:r>
            <a:r>
              <a:rPr lang="en-US" sz="1100" dirty="0">
                <a:solidFill>
                  <a:srgbClr val="1A1A2E"/>
                </a:solidFill>
              </a:rPr>
              <a:t>：逻辑梯度 → 量词层 → 命题层 → 核权重
</a:t>
            </a:r>
            <a:r>
              <a:rPr lang="en-US" sz="1100" b="1" dirty="0">
                <a:solidFill>
                  <a:srgbClr val="DC2626"/>
                </a:solidFill>
              </a:rPr>
              <a:t>→ MLN做不到的反向传播！</a:t>
            </a:r>
            <a:endParaRPr lang="en-US" sz="11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" y="2062480"/>
            <a:ext cx="2437765" cy="73977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65" y="871855"/>
            <a:ext cx="3971925" cy="6096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55" y="3584575"/>
            <a:ext cx="2549525" cy="6184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57070" y="9118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FFFFFF"/>
                </a:solidFill>
              </a:rPr>
              <a:t>特殊情况：</a:t>
            </a:r>
            <a:r>
              <a:rPr lang="en-US" sz="2200" b="1" dirty="0">
                <a:solidFill>
                  <a:srgbClr val="FFFFFF"/>
                </a:solidFill>
              </a:rPr>
              <a:t>SBR 统一了哪些经典机器学习方法？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77824"/>
            <a:ext cx="4224528" cy="11155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77824"/>
            <a:ext cx="91440" cy="1115568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7" name="Text 5"/>
          <p:cNvSpPr/>
          <p:nvPr/>
        </p:nvSpPr>
        <p:spPr>
          <a:xfrm>
            <a:off x="420624" y="950976"/>
            <a:ext cx="3968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8F"/>
                </a:solidFill>
              </a:rPr>
              <a:t>SVM（支持向量机）</a:t>
            </a:r>
            <a:r>
              <a:rPr lang="zh-CN" altLang="en-US" sz="1200" dirty="0"/>
              <a:t>监督数据</a:t>
            </a:r>
            <a:r>
              <a:rPr lang="en-US" altLang="zh-CN" sz="1200" dirty="0"/>
              <a:t> "x</a:t>
            </a:r>
            <a:r>
              <a:rPr lang="zh-CN" altLang="en-US" sz="1200" dirty="0"/>
              <a:t>属于类别</a:t>
            </a:r>
            <a:r>
              <a:rPr lang="en-US" altLang="zh-CN" sz="1200" dirty="0"/>
              <a:t>k" </a:t>
            </a:r>
            <a:endParaRPr lang="en-US" alt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420624" y="1261872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 (Pₖ(x)∧pₖ(x)) ∨ (¬Pₖ(x)∧¬pₖ(x))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1609344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</a:rPr>
              <a:t>→ Hinge Loss：max(0, 1−f(x))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877824"/>
            <a:ext cx="4224528" cy="11155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877824"/>
            <a:ext cx="91440" cy="111556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4864735" y="951230"/>
            <a:ext cx="44291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流形正则化 (Laplacian SVM) </a:t>
            </a:r>
            <a:r>
              <a:rPr lang="zh-CN" altLang="en-US" sz="1200" dirty="0"/>
              <a:t>相互连接的点应该有相同标签</a:t>
            </a:r>
            <a:endParaRPr lang="zh-CN" alt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261872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∀x∀y R(x,y) ⇒ (p(x)∧p(y)) ∨ (¬p(x)∧¬p(y))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1609344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→ 图拉普拉斯正则化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139696"/>
            <a:ext cx="4224528" cy="11155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139696"/>
            <a:ext cx="91440" cy="1115568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7" name="Text 15"/>
          <p:cNvSpPr/>
          <p:nvPr/>
        </p:nvSpPr>
        <p:spPr>
          <a:xfrm>
            <a:off x="420624" y="2212848"/>
            <a:ext cx="3968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直推式SVM (TSVM)  </a:t>
            </a:r>
            <a:r>
              <a:rPr lang="zh-CN" altLang="en-US" sz="1200" dirty="0"/>
              <a:t>每个样本的分类应该明确</a:t>
            </a:r>
            <a:endParaRPr lang="zh-CN" alt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2523744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 pₖ(x) ∨ ¬pₖ(x)  +  先验类别比例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2871216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→ 迫使f(x)趋向0或1，低密度分离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2139696"/>
            <a:ext cx="4224528" cy="11155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2139696"/>
            <a:ext cx="91440" cy="111556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2" name="Text 20"/>
          <p:cNvSpPr/>
          <p:nvPr/>
        </p:nvSpPr>
        <p:spPr>
          <a:xfrm>
            <a:off x="4864608" y="2212848"/>
            <a:ext cx="3968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FD4"/>
                </a:solidFill>
              </a:rPr>
              <a:t>层次分类  </a:t>
            </a:r>
            <a:r>
              <a:rPr lang="en-US" altLang="zh-CN" sz="1200" dirty="0"/>
              <a:t>A</a:t>
            </a:r>
            <a:r>
              <a:rPr lang="zh-CN" altLang="en-US" sz="1200" dirty="0"/>
              <a:t>是</a:t>
            </a:r>
            <a:r>
              <a:rPr lang="en-US" altLang="zh-CN" sz="1200" dirty="0"/>
              <a:t>C</a:t>
            </a:r>
            <a:r>
              <a:rPr lang="zh-CN" altLang="en-US" sz="1200" dirty="0"/>
              <a:t>的子类</a:t>
            </a:r>
            <a:endParaRPr lang="zh-CN" alt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523744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 A(x) ⇒ C(x)  (A是C的子类)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2871216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FD4"/>
                </a:solidFill>
              </a:rPr>
              <a:t>→ 残差T-范数：fC≥fA时满足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401568"/>
            <a:ext cx="8631936" cy="111556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401568"/>
            <a:ext cx="91440" cy="111556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7" name="Text 25"/>
          <p:cNvSpPr/>
          <p:nvPr/>
        </p:nvSpPr>
        <p:spPr>
          <a:xfrm>
            <a:off x="420624" y="3474720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图正则化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" y="3785616"/>
            <a:ext cx="8375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∀x∀y R(x,y) ⇒ (pₖ(x)∧pₖ(y)) ∨ ...  +  G=I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" y="4133088"/>
            <a:ext cx="8375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→ 纯拓扑结构的图正则化，无特征向量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4617720"/>
            <a:ext cx="8631936" cy="402336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1" name="Text 29"/>
          <p:cNvSpPr/>
          <p:nvPr/>
        </p:nvSpPr>
        <p:spPr>
          <a:xfrm>
            <a:off x="256032" y="4617720"/>
            <a:ext cx="8631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FD4"/>
                </a:solidFill>
              </a:rPr>
              <a:t> </a:t>
            </a:r>
            <a:r>
              <a:rPr lang="en-US" sz="1300" b="1" dirty="0">
                <a:solidFill>
                  <a:schemeClr val="bg1"/>
                </a:solidFill>
              </a:rPr>
              <a:t>SBR是一个超级框架：以上所有方法都是它在特定约束下的特例！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训练策略：DOM启发式（分阶段学习）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77824"/>
            <a:ext cx="4114800" cy="16642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77824"/>
            <a:ext cx="4114800" cy="3657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7" name="Text 5"/>
          <p:cNvSpPr/>
          <p:nvPr/>
        </p:nvSpPr>
        <p:spPr>
          <a:xfrm>
            <a:off x="256032" y="877824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核心挑战：局部最小值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913632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一条FOL公式有 k 种满足赋值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→ 转化为连续优化后有 </a:t>
            </a:r>
            <a:r>
              <a:rPr lang="en-US" sz="1200" b="1" dirty="0">
                <a:solidFill>
                  <a:srgbClr val="DC2626"/>
                </a:solidFill>
              </a:rPr>
              <a:t>k 个局部最小值！
</a:t>
            </a:r>
            <a:r>
              <a:rPr lang="en-US" sz="1100" dirty="0">
                <a:solidFill>
                  <a:srgbClr val="6B7280"/>
                </a:solidFill>
              </a:rPr>
              <a:t>FOL推理的不可判定性 ≡ 优化的NP难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77824"/>
            <a:ext cx="4315968" cy="16642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77824"/>
            <a:ext cx="4315968" cy="3657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1" name="Text 9"/>
          <p:cNvSpPr/>
          <p:nvPr/>
        </p:nvSpPr>
        <p:spPr>
          <a:xfrm>
            <a:off x="4572000" y="877824"/>
            <a:ext cx="4315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DOM 启发式解法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1316736"/>
            <a:ext cx="4096512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类比：约束满足中的变量选择策略
</a:t>
            </a:r>
            <a:r>
              <a:rPr lang="en-US" sz="1200" b="1" dirty="0">
                <a:solidFill>
                  <a:srgbClr val="059669"/>
                </a:solidFill>
              </a:rPr>
              <a:t>先强制「自由度最小」的规则
→ 一次只有1种正确赋值 → 凸优化！
</a:t>
            </a:r>
            <a:r>
              <a:rPr lang="en-US" sz="1100" dirty="0">
                <a:solidFill>
                  <a:srgbClr val="6B7280"/>
                </a:solidFill>
              </a:rPr>
              <a:t>参考：皮亚杰发展心理学 + 深度学习课程学习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2651760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分阶段训练流程（以CORA为例）：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01752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017520"/>
            <a:ext cx="2743200" cy="384048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6" name="Text 14"/>
          <p:cNvSpPr/>
          <p:nvPr/>
        </p:nvSpPr>
        <p:spPr>
          <a:xfrm>
            <a:off x="256032" y="301752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阶段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0175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自由度：1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347472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8F"/>
                </a:solidFill>
              </a:rPr>
              <a:t>监督数据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767328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只有1种正确赋值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→ 凸优化，快速收敛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0672" y="3749040"/>
            <a:ext cx="10972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8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743200" cy="384048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23" name="Text 21"/>
          <p:cNvSpPr/>
          <p:nvPr/>
        </p:nvSpPr>
        <p:spPr>
          <a:xfrm>
            <a:off x="3200400" y="301752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阶段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0175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自由度：3~4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47472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FD4"/>
                </a:solidFill>
              </a:rPr>
              <a:t>引用/合著关系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767328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中等复杂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→ 3-4种可能赋值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749040"/>
            <a:ext cx="10972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44768" y="301752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3017520"/>
            <a:ext cx="2743200" cy="384048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0" name="Text 28"/>
          <p:cNvSpPr/>
          <p:nvPr/>
        </p:nvSpPr>
        <p:spPr>
          <a:xfrm>
            <a:off x="6144768" y="301752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阶段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59168" y="301752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自由度：7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47472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互斥分类约束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767328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最复杂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→ 7种可能赋值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solidFill>
            <a:srgbClr val="C8DFF7"/>
          </a:solidFill>
        </p:spPr>
      </p:sp>
      <p:sp>
        <p:nvSpPr>
          <p:cNvPr id="35" name="Text 33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</a:rPr>
              <a:t>实验结论：分阶段训练比一次性训练准确率提升约 3–5%，尤其在标注数据少时效果显著</a:t>
            </a:r>
            <a:endParaRPr lang="en-US" sz="1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集体分类 &amp; 概率解释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77824"/>
            <a:ext cx="5029200" cy="3108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77824"/>
            <a:ext cx="5029200" cy="402336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7" name="Text 5"/>
          <p:cNvSpPr/>
          <p:nvPr/>
        </p:nvSpPr>
        <p:spPr>
          <a:xfrm>
            <a:off x="256032" y="877824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集体分类（Collective Classification）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80974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8F"/>
                </a:solidFill>
              </a:rPr>
              <a:t>核心思想：
</a:t>
            </a:r>
            <a:r>
              <a:rPr lang="en-US" sz="1200" dirty="0">
                <a:solidFill>
                  <a:srgbClr val="1A1A2E"/>
                </a:solidFill>
              </a:rPr>
              <a:t>测试阶段的样本之间也有关系（超链接等）
→ 在测试时也执行逻辑约束</a:t>
            </a:r>
            <a:r>
              <a:rPr lang="zh-CN" altLang="en-US" sz="1200" dirty="0">
                <a:solidFill>
                  <a:srgbClr val="1A1A2E"/>
                </a:solidFill>
              </a:rPr>
              <a:t>，</a:t>
            </a:r>
            <a:r>
              <a:rPr lang="en-US" sz="1200" dirty="0">
                <a:solidFill>
                  <a:srgbClr val="1A1A2E"/>
                </a:solidFill>
              </a:rPr>
              <a:t>让测试样本互相「纠正」彼此的预测
</a:t>
            </a:r>
            <a:r>
              <a:rPr lang="en-US" sz="1200" b="1" dirty="0">
                <a:solidFill>
                  <a:srgbClr val="1A3A8F"/>
                </a:solidFill>
              </a:rPr>
              <a:t>优化目标：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809744" cy="420624"/>
          </a:xfrm>
          <a:prstGeom prst="rect">
            <a:avLst/>
          </a:prstGeom>
          <a:solidFill>
            <a:srgbClr val="E5EAF2"/>
          </a:solidFill>
        </p:spPr>
      </p:sp>
      <p:sp>
        <p:nvSpPr>
          <p:cNvPr id="11" name="Text 9"/>
          <p:cNvSpPr/>
          <p:nvPr/>
        </p:nvSpPr>
        <p:spPr>
          <a:xfrm>
            <a:off x="365760" y="2889504"/>
            <a:ext cx="4809744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f̄</a:t>
            </a:r>
            <a:r>
              <a:rPr lang="en-US" sz="1100" dirty="0">
                <a:solidFill>
                  <a:srgbClr val="1A1A2E"/>
                </a:solidFill>
              </a:rPr>
              <a:t>：满足约束的后验预测    </a:t>
            </a:r>
            <a:r>
              <a:rPr lang="en-US" sz="1100" b="1" dirty="0">
                <a:solidFill>
                  <a:srgbClr val="1A3A8F"/>
                </a:solidFill>
              </a:rPr>
              <a:t>f</a:t>
            </a:r>
            <a:r>
              <a:rPr lang="en-US" sz="1100" dirty="0">
                <a:solidFill>
                  <a:srgbClr val="1A1A2E"/>
                </a:solidFill>
              </a:rPr>
              <a:t>：核机器的先验预测
</a:t>
            </a:r>
            <a:r>
              <a:rPr lang="en-US" sz="1100" b="1" dirty="0">
                <a:solidFill>
                  <a:srgbClr val="059669"/>
                </a:solidFill>
              </a:rPr>
              <a:t>梯度计算与训练完全相同，无需修改代码！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877824"/>
            <a:ext cx="3401568" cy="3108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877824"/>
            <a:ext cx="3401568" cy="402336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4" name="Text 12"/>
          <p:cNvSpPr/>
          <p:nvPr/>
        </p:nvSpPr>
        <p:spPr>
          <a:xfrm>
            <a:off x="5486400" y="877824"/>
            <a:ext cx="3401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概率解释：MFLN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353312"/>
            <a:ext cx="3218688" cy="475488"/>
          </a:xfrm>
          <a:prstGeom prst="rect">
            <a:avLst/>
          </a:prstGeom>
          <a:solidFill>
            <a:srgbClr val="E5EAF2"/>
          </a:solidFill>
        </p:spPr>
      </p:sp>
      <p:sp>
        <p:nvSpPr>
          <p:cNvPr id="17" name="Text 15"/>
          <p:cNvSpPr/>
          <p:nvPr/>
        </p:nvSpPr>
        <p:spPr>
          <a:xfrm>
            <a:off x="5577840" y="1883664"/>
            <a:ext cx="3218688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SBR = 马尔可夫模糊逻辑网络
(Markov Fuzzy Logic Network)
</a:t>
            </a:r>
            <a:r>
              <a:rPr lang="en-US" sz="1100" b="1" dirty="0">
                <a:solidFill>
                  <a:srgbClr val="6B7280"/>
                </a:solidFill>
              </a:rPr>
              <a:t>MLN</a:t>
            </a:r>
            <a:r>
              <a:rPr lang="en-US" sz="1100" dirty="0">
                <a:solidFill>
                  <a:srgbClr val="1A1A2E"/>
                </a:solidFill>
              </a:rPr>
              <a:t>：谓词值 = 0/1，计数真实例
</a:t>
            </a:r>
            <a:r>
              <a:rPr lang="en-US" sz="1100" b="1" dirty="0">
                <a:solidFill>
                  <a:srgbClr val="EA580C"/>
                </a:solidFill>
              </a:rPr>
              <a:t>MFLN</a:t>
            </a:r>
            <a:r>
              <a:rPr lang="en-US" sz="1100" dirty="0">
                <a:solidFill>
                  <a:srgbClr val="1A1A2E"/>
                </a:solidFill>
              </a:rPr>
              <a:t>：谓词值 = [0,1]，T-范数聚合
</a:t>
            </a:r>
            <a:r>
              <a:rPr lang="en-US" sz="1100" b="1" dirty="0">
                <a:solidFill>
                  <a:srgbClr val="059669"/>
                </a:solidFill>
              </a:rPr>
              <a:t>关键优势：底层可用核机器处理高维连续特征！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4096512"/>
            <a:ext cx="8631936" cy="914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4096512"/>
            <a:ext cx="8631936" cy="310896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20" name="Text 18"/>
          <p:cNvSpPr/>
          <p:nvPr/>
        </p:nvSpPr>
        <p:spPr>
          <a:xfrm>
            <a:off x="256032" y="4096512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SBR vs MLN：核心差异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443984"/>
            <a:ext cx="20299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谓词值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SBR: [0,1] 连续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MLN: 0/1 二值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05456" y="4443984"/>
            <a:ext cx="20299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特征处理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SBR: 原生支持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MLN: 需大量规则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4443984"/>
            <a:ext cx="20299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底层反向传播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SBR: ✅ 支持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MLN: ❌ 不支持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4848" y="4443984"/>
            <a:ext cx="20299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混合域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SBR: ✅ 原生支持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MLN: ❌ 受限</a:t>
            </a:r>
            <a:endParaRPr lang="en-US" sz="95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2399665"/>
            <a:ext cx="4831080" cy="44894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655" y="1341120"/>
            <a:ext cx="3393440" cy="5124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508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实验结果一：CORA 论文数据集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77824"/>
            <a:ext cx="8631936" cy="512064"/>
          </a:xfrm>
          <a:prstGeom prst="rect">
            <a:avLst/>
          </a:prstGeom>
          <a:solidFill>
            <a:srgbClr val="C8DFF7"/>
          </a:solidFill>
        </p:spPr>
      </p:sp>
      <p:sp>
        <p:nvSpPr>
          <p:cNvPr id="6" name="Text 4"/>
          <p:cNvSpPr/>
          <p:nvPr/>
        </p:nvSpPr>
        <p:spPr>
          <a:xfrm>
            <a:off x="256032" y="877824"/>
            <a:ext cx="86319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</a:rPr>
              <a:t>数据集：</a:t>
            </a:r>
            <a:r>
              <a:rPr lang="en-US" sz="1100" dirty="0">
                <a:solidFill>
                  <a:srgbClr val="1A1A2E"/>
                </a:solidFill>
              </a:rPr>
              <a:t>2000篇论文 + 3928位作者  |  </a:t>
            </a:r>
            <a:r>
              <a:rPr lang="en-US" sz="1100" b="1" dirty="0">
                <a:solidFill>
                  <a:srgbClr val="0D1B4B"/>
                </a:solidFill>
              </a:rPr>
              <a:t>任务：</a:t>
            </a:r>
            <a:r>
              <a:rPr lang="en-US" sz="1100" dirty="0">
                <a:solidFill>
                  <a:srgbClr val="1A1A2E"/>
                </a:solidFill>
              </a:rPr>
              <a:t>预测论文类别（10类）+ 作者研究方向（10类）  |  </a:t>
            </a:r>
            <a:r>
              <a:rPr lang="en-US" sz="1100" b="1" dirty="0">
                <a:solidFill>
                  <a:srgbClr val="1A3A8F"/>
                </a:solidFill>
              </a:rPr>
              <a:t>直推式学习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论文类别分类准确率（10%标注数据时）：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1792224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394960" y="1463040"/>
            <a:ext cx="34930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不同训练策略的影响（论文准确率）：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394960" y="1810512"/>
          <a:ext cx="3493008" cy="1298448"/>
        </p:xfrm>
        <a:graphic>
          <a:graphicData uri="http://schemas.openxmlformats.org/drawingml/2006/table">
            <a:tbl>
              <a:tblPr/>
              <a:tblGrid>
                <a:gridCol w="873252"/>
                <a:gridCol w="873252"/>
                <a:gridCol w="873252"/>
                <a:gridCol w="873252"/>
              </a:tblGrid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方法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全部约束一起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0.479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0.584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0.623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先监督再其他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0.492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0.599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0.647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DOM分阶段训练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394960" y="3200400"/>
            <a:ext cx="3493008" cy="16642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394960" y="3200400"/>
            <a:ext cx="3493008" cy="32918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9"/>
          <p:cNvSpPr/>
          <p:nvPr/>
        </p:nvSpPr>
        <p:spPr>
          <a:xfrm>
            <a:off x="5394960" y="3200400"/>
            <a:ext cx="3493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关键发现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0" y="3566160"/>
            <a:ext cx="3310128" cy="1225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• SBR准确率 0.511 </a:t>
            </a:r>
            <a:r>
              <a:rPr lang="en-US" sz="1100" dirty="0">
                <a:solidFill>
                  <a:srgbClr val="1A1A2E"/>
                </a:solidFill>
              </a:rPr>
              <a:t>vs 最强对手 PSL-TSVM 0.396
</a:t>
            </a:r>
            <a:r>
              <a:rPr lang="en-US" sz="1100" b="1" dirty="0">
                <a:solidFill>
                  <a:srgbClr val="DC2626"/>
                </a:solidFill>
              </a:rPr>
              <a:t>• 提升幅度约 29%！
</a:t>
            </a:r>
            <a:r>
              <a:rPr lang="en-US" sz="1100" dirty="0">
                <a:solidFill>
                  <a:srgbClr val="1A1A2E"/>
                </a:solidFill>
              </a:rPr>
              <a:t>• 作者域无特征向量，但SBR仍达F1=0.482
</a:t>
            </a:r>
            <a:r>
              <a:rPr lang="en-US" sz="1100" dirty="0">
                <a:solidFill>
                  <a:srgbClr val="6B7280"/>
                </a:solidFill>
              </a:rPr>
              <a:t>• 逻辑知识反向传播显著改善底层SVM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实验结果二：WebKB 网页 &amp; Arnetminer 电影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77824"/>
            <a:ext cx="4261104" cy="41330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77824"/>
            <a:ext cx="4261104" cy="365760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7" name="Text 5"/>
          <p:cNvSpPr/>
          <p:nvPr/>
        </p:nvSpPr>
        <p:spPr>
          <a:xfrm>
            <a:off x="256032" y="877824"/>
            <a:ext cx="42611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WebKB 网页分类（集体分类）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47472" y="1316736"/>
          <a:ext cx="4078224" cy="1463040"/>
        </p:xfrm>
        <a:graphic>
          <a:graphicData uri="http://schemas.openxmlformats.org/drawingml/2006/table">
            <a:tbl>
              <a:tblPr/>
              <a:tblGrid>
                <a:gridCol w="1359408"/>
                <a:gridCol w="1359408"/>
                <a:gridCol w="1359408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网页F1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链接F1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0.768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MLN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0.730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0.564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PSL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SBR-CC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0.810 ↑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0.700 ↑↑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47472" y="2834640"/>
            <a:ext cx="4078224" cy="274320"/>
          </a:xfrm>
          <a:prstGeom prst="rect">
            <a:avLst/>
          </a:prstGeom>
          <a:solidFill>
            <a:srgbClr val="C8DFF7"/>
          </a:solidFill>
        </p:spPr>
      </p:sp>
      <p:sp>
        <p:nvSpPr>
          <p:cNvPr id="10" name="Text 7"/>
          <p:cNvSpPr/>
          <p:nvPr/>
        </p:nvSpPr>
        <p:spPr>
          <a:xfrm>
            <a:off x="347472" y="2834640"/>
            <a:ext cx="4078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</a:rPr>
              <a:t>链接分类F1大幅提升（特征稀疏，逻辑知识帮助更大）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56032" y="3154680"/>
          <a:ext cx="4261104" cy="1755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8"/>
          <p:cNvSpPr/>
          <p:nvPr/>
        </p:nvSpPr>
        <p:spPr>
          <a:xfrm>
            <a:off x="4700016" y="877824"/>
            <a:ext cx="4187952" cy="41330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0016" y="877824"/>
            <a:ext cx="4187952" cy="36576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4" name="Text 10"/>
          <p:cNvSpPr/>
          <p:nvPr/>
        </p:nvSpPr>
        <p:spPr>
          <a:xfrm>
            <a:off x="4700016" y="877824"/>
            <a:ext cx="4187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Arnetminer 电影类型预测（多标签）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91456" y="1303528"/>
            <a:ext cx="4005072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关系规则：
</a:t>
            </a:r>
            <a:r>
              <a:rPr lang="en-US" sz="1100" dirty="0">
                <a:solidFill>
                  <a:srgbClr val="1A1A2E"/>
                </a:solidFill>
              </a:rPr>
              <a:t>相同导演/编剧/制片人 → 同类型
</a:t>
            </a:r>
            <a:r>
              <a:rPr lang="en-US" sz="1100" b="1" dirty="0">
                <a:solidFill>
                  <a:srgbClr val="EA580C"/>
                </a:solidFill>
              </a:rPr>
              <a:t>测试集规模：</a:t>
            </a:r>
            <a:r>
              <a:rPr lang="en-US" sz="1100" dirty="0">
                <a:solidFill>
                  <a:srgbClr val="1A1A2E"/>
                </a:solidFill>
              </a:rPr>
              <a:t>5653部电影（1998年后）
</a:t>
            </a:r>
            <a:r>
              <a:rPr lang="en-US" sz="1100" b="1" dirty="0">
                <a:solidFill>
                  <a:srgbClr val="EA580C"/>
                </a:solidFill>
              </a:rPr>
              <a:t>结果规律：
</a:t>
            </a:r>
            <a:r>
              <a:rPr lang="en-US" sz="1100" dirty="0">
                <a:solidFill>
                  <a:srgbClr val="1A1A2E"/>
                </a:solidFill>
              </a:rPr>
              <a:t>SVM（无无监督数据）&lt; TSVM ≈ LSVM ≈ PSL &lt; SBR &lt; SBR-CC
</a:t>
            </a:r>
            <a:r>
              <a:rPr lang="en-US" sz="1200" b="1" dirty="0">
                <a:solidFill>
                  <a:srgbClr val="059669"/>
                </a:solidFill>
              </a:rPr>
              <a:t>SBR-CC &gt; SBR：
测试时执行约束进一步提升效果
</a:t>
            </a:r>
            <a:r>
              <a:rPr lang="en-US" sz="1100" dirty="0">
                <a:solidFill>
                  <a:srgbClr val="6B7280"/>
                </a:solidFill>
              </a:rPr>
              <a:t>PSL vs SBR：PSL无法用无监督数据改善底层分类器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→ 差距随标注减少而扩大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方法全面对比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56032" y="896112"/>
          <a:ext cx="8631936" cy="4023360"/>
        </p:xfrm>
        <a:graphic>
          <a:graphicData uri="http://schemas.openxmlformats.org/drawingml/2006/table">
            <a:tbl>
              <a:tblPr/>
              <a:tblGrid>
                <a:gridCol w="1726387"/>
                <a:gridCol w="1726387"/>
                <a:gridCol w="1726387"/>
                <a:gridCol w="1726387"/>
                <a:gridCol w="1726387"/>
              </a:tblGrid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能力维度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PSL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SBR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处理数字特征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原生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 需规则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间接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原生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使用逻辑知识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部分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完整FOL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反向传播到底层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核心优势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处理纯符号实体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混合域（特征+符号）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困难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困难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原生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集体分类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凸优化（部分）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部分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✅（监督部分）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概率解释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MLN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PSL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MFLN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956048"/>
            <a:ext cx="8631936" cy="54864"/>
          </a:xfrm>
          <a:prstGeom prst="rect">
            <a:avLst/>
          </a:prstGeom>
          <a:solidFill>
            <a:srgbClr val="4A9FD4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总结：贡献、局限与启示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5" name="Shape 3"/>
          <p:cNvSpPr/>
          <p:nvPr/>
        </p:nvSpPr>
        <p:spPr>
          <a:xfrm>
            <a:off x="256032" y="877824"/>
            <a:ext cx="5303520" cy="3108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77824"/>
            <a:ext cx="5303520" cy="38404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5"/>
          <p:cNvSpPr/>
          <p:nvPr/>
        </p:nvSpPr>
        <p:spPr>
          <a:xfrm>
            <a:off x="256032" y="877824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主要贡献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50840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① 统一框架：SBR将监督学习、逻辑推理、关系学习统一在一个代价函数下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50840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② 双向信息流：逻辑推理结果可反向传播改善底层核机器——这在MLN/PSL中无法实现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50840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③ 混合域支持：原生处理「有特征向量+纯符号标识符」的混合实体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61488"/>
            <a:ext cx="50840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④ DOM训练策略：受认知发展理论启发的分阶段学习，有效避免局部最小值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36976"/>
            <a:ext cx="50840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⑤ 概率解释：SBR等价于马尔可夫模糊逻辑网络（MFLN），理论基础扎实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42432" y="877824"/>
            <a:ext cx="3145536" cy="1627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42432" y="877824"/>
            <a:ext cx="3145536" cy="38404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5" name="Text 13"/>
          <p:cNvSpPr/>
          <p:nvPr/>
        </p:nvSpPr>
        <p:spPr>
          <a:xfrm>
            <a:off x="5742432" y="877824"/>
            <a:ext cx="314553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局限性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33872" y="1335024"/>
            <a:ext cx="2962656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• 局部最小值问题</a:t>
            </a:r>
            <a:r>
              <a:rPr lang="en-US" b="1" dirty="0">
                <a:solidFill>
                  <a:srgbClr val="DC2626"/>
                </a:solidFill>
              </a:rPr>
              <a:t>
</a:t>
            </a:r>
            <a:r>
              <a:rPr lang="en-US" sz="1100" dirty="0">
                <a:solidFill>
                  <a:srgbClr val="1A1A2E"/>
                </a:solidFill>
              </a:rPr>
              <a:t>  复杂知识库难以全局最优
</a:t>
            </a:r>
            <a:r>
              <a:rPr lang="en-US" sz="1100" b="1" dirty="0">
                <a:solidFill>
                  <a:srgbClr val="DC2626"/>
                </a:solidFill>
              </a:rPr>
              <a:t>• 规则权重学习
</a:t>
            </a:r>
            <a:r>
              <a:rPr lang="en-US" sz="1100" dirty="0">
                <a:solidFill>
                  <a:srgbClr val="1A1A2E"/>
                </a:solidFill>
              </a:rPr>
              <a:t>  λ需手动设定或验证集调参
</a:t>
            </a:r>
            <a:r>
              <a:rPr lang="en-US" sz="1100" b="1" dirty="0">
                <a:solidFill>
                  <a:srgbClr val="DC2626"/>
                </a:solidFill>
              </a:rPr>
              <a:t>• 规模化挑战
</a:t>
            </a:r>
            <a:r>
              <a:rPr lang="en-US" sz="1100" dirty="0">
                <a:solidFill>
                  <a:srgbClr val="1A1A2E"/>
                </a:solidFill>
              </a:rPr>
              <a:t>  接地数量指数增长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42432" y="2578608"/>
            <a:ext cx="3145536" cy="140817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42432" y="2578608"/>
            <a:ext cx="3145536" cy="384048"/>
          </a:xfrm>
          <a:prstGeom prst="rect">
            <a:avLst/>
          </a:prstGeom>
          <a:solidFill>
            <a:srgbClr val="1A3A8F"/>
          </a:solidFill>
        </p:spPr>
      </p:sp>
      <p:sp>
        <p:nvSpPr>
          <p:cNvPr id="19" name="Text 17"/>
          <p:cNvSpPr/>
          <p:nvPr/>
        </p:nvSpPr>
        <p:spPr>
          <a:xfrm>
            <a:off x="5742432" y="2578608"/>
            <a:ext cx="314553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深远影响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33872" y="3017520"/>
            <a:ext cx="29626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</a:rPr>
              <a:t>• 启发了神经符号AI
</a:t>
            </a:r>
            <a:r>
              <a:rPr lang="en-US" sz="1100" dirty="0">
                <a:solidFill>
                  <a:srgbClr val="1A1A2E"/>
                </a:solidFill>
              </a:rPr>
              <a:t>  将规则嵌入神经网络
</a:t>
            </a:r>
            <a:r>
              <a:rPr lang="en-US" sz="1100" b="1" dirty="0">
                <a:solidFill>
                  <a:srgbClr val="1A3A8F"/>
                </a:solidFill>
              </a:rPr>
              <a:t>• 知识蒸馏先驱思路
</a:t>
            </a:r>
            <a:r>
              <a:rPr lang="en-US" sz="1100" dirty="0">
                <a:solidFill>
                  <a:srgbClr val="1A1A2E"/>
                </a:solidFill>
              </a:rPr>
              <a:t>  逻辑知识驱动无监督数据利用
</a:t>
            </a:r>
            <a:r>
              <a:rPr lang="en-US" sz="1100" b="1" dirty="0">
                <a:solidFill>
                  <a:srgbClr val="1A3A8F"/>
                </a:solidFill>
              </a:rPr>
              <a:t>• LNN/Logic-NN方向奠基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096512"/>
            <a:ext cx="8631936" cy="877824"/>
          </a:xfrm>
          <a:prstGeom prst="rect">
            <a:avLst/>
          </a:prstGeom>
          <a:solidFill>
            <a:srgbClr val="0D1B4B"/>
          </a:solidFill>
        </p:spPr>
      </p:sp>
      <p:sp>
        <p:nvSpPr>
          <p:cNvPr id="22" name="Text 20"/>
          <p:cNvSpPr/>
          <p:nvPr/>
        </p:nvSpPr>
        <p:spPr>
          <a:xfrm>
            <a:off x="365760" y="4096512"/>
            <a:ext cx="8449056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SBR的核心洞见：</a:t>
            </a:r>
            <a:r>
              <a:rPr lang="en-US" sz="1300" dirty="0">
                <a:solidFill>
                  <a:srgbClr val="FFFFFF"/>
                </a:solidFill>
              </a:rPr>
              <a:t>将「约束」作为统一语言，让梯度可以跨越符号推理与数值学习之间的边界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3" name="Shape 1"/>
          <p:cNvSpPr/>
          <p:nvPr/>
        </p:nvSpPr>
        <p:spPr>
          <a:xfrm>
            <a:off x="6800850" y="1184275"/>
            <a:ext cx="4114800" cy="4114800"/>
          </a:xfrm>
          <a:prstGeom prst="ellipse">
            <a:avLst/>
          </a:prstGeom>
          <a:solidFill>
            <a:srgbClr val="1E3A7A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715250" y="2345690"/>
            <a:ext cx="2286000" cy="2286000"/>
          </a:xfrm>
          <a:prstGeom prst="ellipse">
            <a:avLst/>
          </a:prstGeom>
          <a:solidFill>
            <a:srgbClr val="4A9FD4">
              <a:alpha val="25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A9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572000" cy="36576"/>
          </a:xfrm>
          <a:prstGeom prst="rect">
            <a:avLst/>
          </a:prstGeom>
          <a:solidFill>
            <a:srgbClr val="4A9FD4"/>
          </a:solidFill>
        </p:spPr>
      </p:sp>
      <p:sp>
        <p:nvSpPr>
          <p:cNvPr id="8" name="Text 6"/>
          <p:cNvSpPr/>
          <p:nvPr/>
        </p:nvSpPr>
        <p:spPr>
          <a:xfrm>
            <a:off x="548640" y="2651760"/>
            <a:ext cx="7315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EE"/>
                </a:solidFill>
              </a:rPr>
              <a:t>Semantic-Based Regularization for Learning and Inference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7315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</a:rPr>
              <a:t>Diligenti, Gori &amp; Saccà | Artificial Intelligence 244 (2017)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3A8F"/>
          </a:solidFill>
        </p:spPr>
      </p:sp>
      <p:sp>
        <p:nvSpPr>
          <p:cNvPr id="11" name="Text 9"/>
          <p:cNvSpPr/>
          <p:nvPr/>
        </p:nvSpPr>
        <p:spPr>
          <a:xfrm>
            <a:off x="548640" y="35661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语义正则化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5661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3A8F"/>
          </a:solidFill>
        </p:spPr>
      </p:sp>
      <p:sp>
        <p:nvSpPr>
          <p:cNvPr id="13" name="Text 11"/>
          <p:cNvSpPr/>
          <p:nvPr/>
        </p:nvSpPr>
        <p:spPr>
          <a:xfrm>
            <a:off x="3108960" y="35661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模糊逻辑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5661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3A8F"/>
          </a:solidFill>
        </p:spPr>
      </p:sp>
      <p:sp>
        <p:nvSpPr>
          <p:cNvPr id="15" name="Text 13"/>
          <p:cNvSpPr/>
          <p:nvPr/>
        </p:nvSpPr>
        <p:spPr>
          <a:xfrm>
            <a:off x="5669280" y="35661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核机器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3A8F"/>
          </a:solidFill>
        </p:spPr>
      </p:sp>
      <p:sp>
        <p:nvSpPr>
          <p:cNvPr id="17" name="Text 15"/>
          <p:cNvSpPr/>
          <p:nvPr/>
        </p:nvSpPr>
        <p:spPr>
          <a:xfrm>
            <a:off x="548640" y="40233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统计关系学习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4023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3A8F"/>
          </a:solidFill>
        </p:spPr>
      </p:sp>
      <p:sp>
        <p:nvSpPr>
          <p:cNvPr id="19" name="Text 17"/>
          <p:cNvSpPr/>
          <p:nvPr/>
        </p:nvSpPr>
        <p:spPr>
          <a:xfrm>
            <a:off x="3108960" y="40233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集体分类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4023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3A8F"/>
          </a:solidFill>
        </p:spPr>
      </p:sp>
      <p:sp>
        <p:nvSpPr>
          <p:cNvPr id="21" name="Text 19"/>
          <p:cNvSpPr/>
          <p:nvPr/>
        </p:nvSpPr>
        <p:spPr>
          <a:xfrm>
            <a:off x="5669280" y="40233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马尔可夫逻辑网络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3951</Words>
  <Application>WPS 演示</Application>
  <PresentationFormat>On-screen Show (16:9)</PresentationFormat>
  <Paragraphs>562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等线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Semantic-Based Regularization for Learning and Inference</dc:title>
  <dc:creator>PptxGenJS</dc:creator>
  <dc:subject>PptxGenJS Presentation</dc:subject>
  <cp:lastModifiedBy>WPS_1669272209</cp:lastModifiedBy>
  <cp:revision>4</cp:revision>
  <dcterms:created xsi:type="dcterms:W3CDTF">2026-05-14T08:04:00Z</dcterms:created>
  <dcterms:modified xsi:type="dcterms:W3CDTF">2026-06-01T07:42:40Z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6562C8C6E9194C1EA7B70051DCBDD71C_13</vt:lpwstr>
  </property>
</Properties>
</file>